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903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E50"/>
        </a:solidFill>
        <a:effectLst/>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8B0000"/>
          </a:solidFill>
          <a:ln w="12700">
            <a:solidFill>
              <a:srgbClr val="8B0000"/>
            </a:solidFill>
            <a:prstDash val="solid"/>
          </a:ln>
        </p:spPr>
      </p:sp>
      <p:sp>
        <p:nvSpPr>
          <p:cNvPr id="3" name="Text 1"/>
          <p:cNvSpPr/>
          <p:nvPr/>
        </p:nvSpPr>
        <p:spPr>
          <a:xfrm>
            <a:off x="228600" y="457200"/>
            <a:ext cx="3383280" cy="594360"/>
          </a:xfrm>
          <a:prstGeom prst="rect">
            <a:avLst/>
          </a:prstGeom>
          <a:noFill/>
          <a:ln/>
        </p:spPr>
        <p:txBody>
          <a:bodyPr wrap="square" lIns="0" tIns="0" rIns="0" bIns="0" rtlCol="0" anchor="ctr"/>
          <a:lstStyle/>
          <a:p>
            <a:pPr marL="0" indent="0" algn="l">
              <a:buNone/>
            </a:pPr>
            <a:r>
              <a:rPr lang="en-US" sz="3200" b="1" dirty="0">
                <a:solidFill>
                  <a:schemeClr val="bg1"/>
                </a:solidFill>
                <a:latin typeface="Arial Black" pitchFamily="34" charset="0"/>
                <a:ea typeface="Arial Black" pitchFamily="34" charset="-122"/>
                <a:cs typeface="Arial Black" pitchFamily="34" charset="-120"/>
              </a:rPr>
              <a:t>RIO TINTO</a:t>
            </a:r>
            <a:endParaRPr lang="en-US" sz="3200" b="1" dirty="0">
              <a:solidFill>
                <a:schemeClr val="bg1"/>
              </a:solidFill>
            </a:endParaRPr>
          </a:p>
        </p:txBody>
      </p:sp>
      <p:sp>
        <p:nvSpPr>
          <p:cNvPr id="4" name="Text 2"/>
          <p:cNvSpPr/>
          <p:nvPr/>
        </p:nvSpPr>
        <p:spPr>
          <a:xfrm>
            <a:off x="228600" y="1005840"/>
            <a:ext cx="3383280" cy="320040"/>
          </a:xfrm>
          <a:prstGeom prst="rect">
            <a:avLst/>
          </a:prstGeom>
          <a:noFill/>
          <a:ln/>
        </p:spPr>
        <p:txBody>
          <a:bodyPr wrap="square" lIns="0" tIns="0" rIns="0" bIns="0" rtlCol="0" anchor="ctr"/>
          <a:lstStyle/>
          <a:p>
            <a:pPr marL="0" indent="0" algn="l">
              <a:buNone/>
            </a:pPr>
            <a:r>
              <a:rPr lang="en-US" sz="1400" b="1" kern="0" spc="300" dirty="0">
                <a:solidFill>
                  <a:schemeClr val="bg1"/>
                </a:solidFill>
                <a:latin typeface="Arial" pitchFamily="34" charset="0"/>
                <a:ea typeface="Arial" pitchFamily="34" charset="-122"/>
                <a:cs typeface="Arial" pitchFamily="34" charset="-120"/>
              </a:rPr>
              <a:t>PLC / LIMITED</a:t>
            </a:r>
            <a:endParaRPr lang="en-US" sz="1400" b="1" dirty="0">
              <a:solidFill>
                <a:schemeClr val="bg1"/>
              </a:solidFill>
            </a:endParaRPr>
          </a:p>
        </p:txBody>
      </p:sp>
      <p:sp>
        <p:nvSpPr>
          <p:cNvPr id="5" name="Shape 3"/>
          <p:cNvSpPr/>
          <p:nvPr/>
        </p:nvSpPr>
        <p:spPr>
          <a:xfrm>
            <a:off x="228600" y="1417320"/>
            <a:ext cx="2926080" cy="36576"/>
          </a:xfrm>
          <a:prstGeom prst="rect">
            <a:avLst/>
          </a:prstGeom>
          <a:solidFill>
            <a:srgbClr val="FADBD8"/>
          </a:solidFill>
          <a:ln w="12700">
            <a:solidFill>
              <a:srgbClr val="FADBD8"/>
            </a:solidFill>
            <a:prstDash val="solid"/>
          </a:ln>
        </p:spPr>
      </p:sp>
      <p:sp>
        <p:nvSpPr>
          <p:cNvPr id="6" name="Text 4"/>
          <p:cNvSpPr/>
          <p:nvPr/>
        </p:nvSpPr>
        <p:spPr>
          <a:xfrm>
            <a:off x="256032" y="1572768"/>
            <a:ext cx="1097280" cy="201168"/>
          </a:xfrm>
          <a:prstGeom prst="rect">
            <a:avLst/>
          </a:prstGeom>
          <a:noFill/>
          <a:ln/>
        </p:spPr>
        <p:txBody>
          <a:bodyPr wrap="square" lIns="0" tIns="0" rIns="0" bIns="0" rtlCol="0" anchor="ctr"/>
          <a:lstStyle/>
          <a:p>
            <a:pPr marL="0" indent="0" algn="l">
              <a:buNone/>
            </a:pPr>
            <a:r>
              <a:rPr lang="en-US" sz="750" b="1" dirty="0">
                <a:solidFill>
                  <a:schemeClr val="bg1"/>
                </a:solidFill>
                <a:latin typeface="Arial" pitchFamily="34" charset="0"/>
                <a:ea typeface="Arial" pitchFamily="34" charset="-122"/>
                <a:cs typeface="Arial" pitchFamily="34" charset="-120"/>
              </a:rPr>
              <a:t>SECTOR</a:t>
            </a:r>
            <a:endParaRPr lang="en-US" sz="750" b="1" dirty="0">
              <a:solidFill>
                <a:schemeClr val="bg1"/>
              </a:solidFill>
            </a:endParaRPr>
          </a:p>
        </p:txBody>
      </p:sp>
      <p:sp>
        <p:nvSpPr>
          <p:cNvPr id="7" name="Text 5"/>
          <p:cNvSpPr/>
          <p:nvPr/>
        </p:nvSpPr>
        <p:spPr>
          <a:xfrm>
            <a:off x="256032" y="1773936"/>
            <a:ext cx="3200400" cy="228600"/>
          </a:xfrm>
          <a:prstGeom prst="rect">
            <a:avLst/>
          </a:prstGeom>
          <a:noFill/>
          <a:ln/>
        </p:spPr>
        <p:txBody>
          <a:bodyPr wrap="square" lIns="0" tIns="0" rIns="0" bIns="0" rtlCol="0" anchor="ctr"/>
          <a:lstStyle/>
          <a:p>
            <a:pPr marL="0" indent="0" algn="l">
              <a:buNone/>
            </a:pPr>
            <a:r>
              <a:rPr lang="en-US" sz="1000" b="1" dirty="0">
                <a:solidFill>
                  <a:schemeClr val="bg1"/>
                </a:solidFill>
                <a:latin typeface="Arial" pitchFamily="34" charset="0"/>
                <a:ea typeface="Arial" pitchFamily="34" charset="-122"/>
                <a:cs typeface="Arial" pitchFamily="34" charset="-120"/>
              </a:rPr>
              <a:t>Mining &amp; Metals</a:t>
            </a:r>
            <a:endParaRPr lang="en-US" sz="1000" b="1" dirty="0">
              <a:solidFill>
                <a:schemeClr val="bg1"/>
              </a:solidFill>
            </a:endParaRPr>
          </a:p>
        </p:txBody>
      </p:sp>
      <p:sp>
        <p:nvSpPr>
          <p:cNvPr id="8" name="Text 6"/>
          <p:cNvSpPr/>
          <p:nvPr/>
        </p:nvSpPr>
        <p:spPr>
          <a:xfrm>
            <a:off x="256032" y="2075688"/>
            <a:ext cx="1097280" cy="201168"/>
          </a:xfrm>
          <a:prstGeom prst="rect">
            <a:avLst/>
          </a:prstGeom>
          <a:noFill/>
          <a:ln/>
        </p:spPr>
        <p:txBody>
          <a:bodyPr wrap="square" lIns="0" tIns="0" rIns="0" bIns="0" rtlCol="0" anchor="ctr"/>
          <a:lstStyle/>
          <a:p>
            <a:pPr marL="0" indent="0" algn="l">
              <a:buNone/>
            </a:pPr>
            <a:r>
              <a:rPr lang="en-US" sz="750" b="1" dirty="0">
                <a:solidFill>
                  <a:schemeClr val="bg1"/>
                </a:solidFill>
                <a:latin typeface="Arial" pitchFamily="34" charset="0"/>
                <a:ea typeface="Arial" pitchFamily="34" charset="-122"/>
                <a:cs typeface="Arial" pitchFamily="34" charset="-120"/>
              </a:rPr>
              <a:t>HQ</a:t>
            </a:r>
            <a:endParaRPr lang="en-US" sz="750" b="1" dirty="0">
              <a:solidFill>
                <a:schemeClr val="bg1"/>
              </a:solidFill>
            </a:endParaRPr>
          </a:p>
        </p:txBody>
      </p:sp>
      <p:sp>
        <p:nvSpPr>
          <p:cNvPr id="9" name="Text 7"/>
          <p:cNvSpPr/>
          <p:nvPr/>
        </p:nvSpPr>
        <p:spPr>
          <a:xfrm>
            <a:off x="256032" y="2276856"/>
            <a:ext cx="3200400" cy="228600"/>
          </a:xfrm>
          <a:prstGeom prst="rect">
            <a:avLst/>
          </a:prstGeom>
          <a:noFill/>
          <a:ln/>
        </p:spPr>
        <p:txBody>
          <a:bodyPr wrap="square" lIns="0" tIns="0" rIns="0" bIns="0" rtlCol="0" anchor="ctr"/>
          <a:lstStyle/>
          <a:p>
            <a:pPr marL="0" indent="0" algn="l">
              <a:buNone/>
            </a:pPr>
            <a:r>
              <a:rPr lang="en-US" sz="1000" b="1" dirty="0">
                <a:solidFill>
                  <a:schemeClr val="bg1"/>
                </a:solidFill>
                <a:latin typeface="Arial" pitchFamily="34" charset="0"/>
                <a:ea typeface="Arial" pitchFamily="34" charset="-122"/>
                <a:cs typeface="Arial" pitchFamily="34" charset="-120"/>
              </a:rPr>
              <a:t>London | Melbourne</a:t>
            </a:r>
            <a:endParaRPr lang="en-US" sz="1000" b="1" dirty="0">
              <a:solidFill>
                <a:schemeClr val="bg1"/>
              </a:solidFill>
            </a:endParaRPr>
          </a:p>
        </p:txBody>
      </p:sp>
      <p:sp>
        <p:nvSpPr>
          <p:cNvPr id="10" name="Text 8"/>
          <p:cNvSpPr/>
          <p:nvPr/>
        </p:nvSpPr>
        <p:spPr>
          <a:xfrm>
            <a:off x="256032" y="2578608"/>
            <a:ext cx="1097280" cy="201168"/>
          </a:xfrm>
          <a:prstGeom prst="rect">
            <a:avLst/>
          </a:prstGeom>
          <a:noFill/>
          <a:ln/>
        </p:spPr>
        <p:txBody>
          <a:bodyPr wrap="square" lIns="0" tIns="0" rIns="0" bIns="0" rtlCol="0" anchor="ctr"/>
          <a:lstStyle/>
          <a:p>
            <a:pPr marL="0" indent="0" algn="l">
              <a:buNone/>
            </a:pPr>
            <a:r>
              <a:rPr lang="en-US" sz="750" b="1" dirty="0">
                <a:solidFill>
                  <a:schemeClr val="bg1"/>
                </a:solidFill>
                <a:latin typeface="Arial" pitchFamily="34" charset="0"/>
                <a:ea typeface="Arial" pitchFamily="34" charset="-122"/>
                <a:cs typeface="Arial" pitchFamily="34" charset="-120"/>
              </a:rPr>
              <a:t>LISTED</a:t>
            </a:r>
            <a:endParaRPr lang="en-US" sz="750" b="1" dirty="0">
              <a:solidFill>
                <a:schemeClr val="bg1"/>
              </a:solidFill>
            </a:endParaRPr>
          </a:p>
        </p:txBody>
      </p:sp>
      <p:sp>
        <p:nvSpPr>
          <p:cNvPr id="11" name="Text 9"/>
          <p:cNvSpPr/>
          <p:nvPr/>
        </p:nvSpPr>
        <p:spPr>
          <a:xfrm>
            <a:off x="256032" y="2779776"/>
            <a:ext cx="3200400" cy="228600"/>
          </a:xfrm>
          <a:prstGeom prst="rect">
            <a:avLst/>
          </a:prstGeom>
          <a:noFill/>
          <a:ln/>
        </p:spPr>
        <p:txBody>
          <a:bodyPr wrap="square" lIns="0" tIns="0" rIns="0" bIns="0" rtlCol="0" anchor="ctr"/>
          <a:lstStyle/>
          <a:p>
            <a:pPr marL="0" indent="0" algn="l">
              <a:buNone/>
            </a:pPr>
            <a:r>
              <a:rPr lang="en-US" sz="1000" b="1" dirty="0">
                <a:solidFill>
                  <a:schemeClr val="bg1"/>
                </a:solidFill>
                <a:latin typeface="Arial" pitchFamily="34" charset="0"/>
                <a:ea typeface="Arial" pitchFamily="34" charset="-122"/>
                <a:cs typeface="Arial" pitchFamily="34" charset="-120"/>
              </a:rPr>
              <a:t>LSE / ASX (dual-listed)</a:t>
            </a:r>
            <a:endParaRPr lang="en-US" sz="1000" b="1" dirty="0">
              <a:solidFill>
                <a:schemeClr val="bg1"/>
              </a:solidFill>
            </a:endParaRPr>
          </a:p>
        </p:txBody>
      </p:sp>
      <p:sp>
        <p:nvSpPr>
          <p:cNvPr id="12" name="Text 10"/>
          <p:cNvSpPr/>
          <p:nvPr/>
        </p:nvSpPr>
        <p:spPr>
          <a:xfrm>
            <a:off x="256032" y="3081528"/>
            <a:ext cx="1097280" cy="201168"/>
          </a:xfrm>
          <a:prstGeom prst="rect">
            <a:avLst/>
          </a:prstGeom>
          <a:noFill/>
          <a:ln/>
        </p:spPr>
        <p:txBody>
          <a:bodyPr wrap="square" lIns="0" tIns="0" rIns="0" bIns="0" rtlCol="0" anchor="ctr"/>
          <a:lstStyle/>
          <a:p>
            <a:pPr marL="0" indent="0" algn="l">
              <a:buNone/>
            </a:pPr>
            <a:r>
              <a:rPr lang="en-US" sz="750" b="1" dirty="0">
                <a:solidFill>
                  <a:schemeClr val="bg1"/>
                </a:solidFill>
                <a:latin typeface="Arial" pitchFamily="34" charset="0"/>
                <a:ea typeface="Arial" pitchFamily="34" charset="-122"/>
                <a:cs typeface="Arial" pitchFamily="34" charset="-120"/>
              </a:rPr>
              <a:t>REVENUE</a:t>
            </a:r>
            <a:endParaRPr lang="en-US" sz="750" b="1" dirty="0">
              <a:solidFill>
                <a:schemeClr val="bg1"/>
              </a:solidFill>
            </a:endParaRPr>
          </a:p>
        </p:txBody>
      </p:sp>
      <p:sp>
        <p:nvSpPr>
          <p:cNvPr id="13" name="Text 11"/>
          <p:cNvSpPr/>
          <p:nvPr/>
        </p:nvSpPr>
        <p:spPr>
          <a:xfrm>
            <a:off x="256032" y="3282696"/>
            <a:ext cx="3200400" cy="228600"/>
          </a:xfrm>
          <a:prstGeom prst="rect">
            <a:avLst/>
          </a:prstGeom>
          <a:noFill/>
          <a:ln/>
        </p:spPr>
        <p:txBody>
          <a:bodyPr wrap="square" lIns="0" tIns="0" rIns="0" bIns="0" rtlCol="0" anchor="ctr"/>
          <a:lstStyle/>
          <a:p>
            <a:pPr marL="0" indent="0" algn="l">
              <a:buNone/>
            </a:pPr>
            <a:r>
              <a:rPr lang="en-US" sz="1000" b="1" dirty="0">
                <a:solidFill>
                  <a:schemeClr val="bg1"/>
                </a:solidFill>
                <a:latin typeface="Arial" pitchFamily="34" charset="0"/>
                <a:ea typeface="Arial" pitchFamily="34" charset="-122"/>
                <a:cs typeface="Arial" pitchFamily="34" charset="-120"/>
              </a:rPr>
              <a:t>USD ~54bn (2024)</a:t>
            </a:r>
            <a:endParaRPr lang="en-US" sz="1000" b="1" dirty="0">
              <a:solidFill>
                <a:schemeClr val="bg1"/>
              </a:solidFill>
            </a:endParaRPr>
          </a:p>
        </p:txBody>
      </p:sp>
      <p:sp>
        <p:nvSpPr>
          <p:cNvPr id="14" name="Text 12"/>
          <p:cNvSpPr/>
          <p:nvPr/>
        </p:nvSpPr>
        <p:spPr>
          <a:xfrm>
            <a:off x="256032" y="3584448"/>
            <a:ext cx="1097280" cy="201168"/>
          </a:xfrm>
          <a:prstGeom prst="rect">
            <a:avLst/>
          </a:prstGeom>
          <a:noFill/>
          <a:ln/>
        </p:spPr>
        <p:txBody>
          <a:bodyPr wrap="square" lIns="0" tIns="0" rIns="0" bIns="0" rtlCol="0" anchor="ctr"/>
          <a:lstStyle/>
          <a:p>
            <a:pPr marL="0" indent="0" algn="l">
              <a:buNone/>
            </a:pPr>
            <a:r>
              <a:rPr lang="en-US" sz="750" b="1" dirty="0">
                <a:solidFill>
                  <a:schemeClr val="bg1"/>
                </a:solidFill>
                <a:latin typeface="Arial" pitchFamily="34" charset="0"/>
                <a:ea typeface="Arial" pitchFamily="34" charset="-122"/>
                <a:cs typeface="Arial" pitchFamily="34" charset="-120"/>
              </a:rPr>
              <a:t>EMPLOYEES</a:t>
            </a:r>
            <a:endParaRPr lang="en-US" sz="750" b="1" dirty="0">
              <a:solidFill>
                <a:schemeClr val="bg1"/>
              </a:solidFill>
            </a:endParaRPr>
          </a:p>
        </p:txBody>
      </p:sp>
      <p:sp>
        <p:nvSpPr>
          <p:cNvPr id="15" name="Text 13"/>
          <p:cNvSpPr/>
          <p:nvPr/>
        </p:nvSpPr>
        <p:spPr>
          <a:xfrm>
            <a:off x="256032" y="3785616"/>
            <a:ext cx="3200400" cy="228600"/>
          </a:xfrm>
          <a:prstGeom prst="rect">
            <a:avLst/>
          </a:prstGeom>
          <a:noFill/>
          <a:ln/>
        </p:spPr>
        <p:txBody>
          <a:bodyPr wrap="square" lIns="0" tIns="0" rIns="0" bIns="0" rtlCol="0" anchor="ctr"/>
          <a:lstStyle/>
          <a:p>
            <a:pPr marL="0" indent="0" algn="l">
              <a:buNone/>
            </a:pPr>
            <a:r>
              <a:rPr lang="en-US" sz="1000" b="1" dirty="0">
                <a:solidFill>
                  <a:schemeClr val="bg1"/>
                </a:solidFill>
                <a:latin typeface="Arial" pitchFamily="34" charset="0"/>
                <a:ea typeface="Arial" pitchFamily="34" charset="-122"/>
                <a:cs typeface="Arial" pitchFamily="34" charset="-120"/>
              </a:rPr>
              <a:t>~57,000 worldwide</a:t>
            </a:r>
            <a:endParaRPr lang="en-US" sz="1000" b="1" dirty="0">
              <a:solidFill>
                <a:schemeClr val="bg1"/>
              </a:solidFill>
            </a:endParaRPr>
          </a:p>
        </p:txBody>
      </p:sp>
      <p:sp>
        <p:nvSpPr>
          <p:cNvPr id="16" name="Text 14"/>
          <p:cNvSpPr/>
          <p:nvPr/>
        </p:nvSpPr>
        <p:spPr>
          <a:xfrm>
            <a:off x="256032" y="4087368"/>
            <a:ext cx="1097280" cy="201168"/>
          </a:xfrm>
          <a:prstGeom prst="rect">
            <a:avLst/>
          </a:prstGeom>
          <a:noFill/>
          <a:ln/>
        </p:spPr>
        <p:txBody>
          <a:bodyPr wrap="square" lIns="0" tIns="0" rIns="0" bIns="0" rtlCol="0" anchor="ctr"/>
          <a:lstStyle/>
          <a:p>
            <a:pPr marL="0" indent="0" algn="l">
              <a:buNone/>
            </a:pPr>
            <a:r>
              <a:rPr lang="en-US" sz="750" b="1" dirty="0">
                <a:solidFill>
                  <a:schemeClr val="bg1"/>
                </a:solidFill>
                <a:latin typeface="Arial" pitchFamily="34" charset="0"/>
                <a:ea typeface="Arial" pitchFamily="34" charset="-122"/>
                <a:cs typeface="Arial" pitchFamily="34" charset="-120"/>
              </a:rPr>
              <a:t>REPORTING YR</a:t>
            </a:r>
            <a:endParaRPr lang="en-US" sz="750" b="1" dirty="0">
              <a:solidFill>
                <a:schemeClr val="bg1"/>
              </a:solidFill>
            </a:endParaRPr>
          </a:p>
        </p:txBody>
      </p:sp>
      <p:sp>
        <p:nvSpPr>
          <p:cNvPr id="17" name="Text 15"/>
          <p:cNvSpPr/>
          <p:nvPr/>
        </p:nvSpPr>
        <p:spPr>
          <a:xfrm>
            <a:off x="256032" y="4288536"/>
            <a:ext cx="3200400" cy="228600"/>
          </a:xfrm>
          <a:prstGeom prst="rect">
            <a:avLst/>
          </a:prstGeom>
          <a:noFill/>
          <a:ln/>
        </p:spPr>
        <p:txBody>
          <a:bodyPr wrap="square" lIns="0" tIns="0" rIns="0" bIns="0" rtlCol="0" anchor="ctr"/>
          <a:lstStyle/>
          <a:p>
            <a:pPr marL="0" indent="0" algn="l">
              <a:buNone/>
            </a:pPr>
            <a:r>
              <a:rPr lang="en-US" sz="1000" b="1" dirty="0">
                <a:solidFill>
                  <a:schemeClr val="bg1"/>
                </a:solidFill>
                <a:latin typeface="Arial" pitchFamily="34" charset="0"/>
                <a:ea typeface="Arial" pitchFamily="34" charset="-122"/>
                <a:cs typeface="Arial" pitchFamily="34" charset="-120"/>
              </a:rPr>
              <a:t>2024 (FY ended Dec 31)</a:t>
            </a:r>
            <a:endParaRPr lang="en-US" sz="1000" b="1" dirty="0">
              <a:solidFill>
                <a:schemeClr val="bg1"/>
              </a:solidFill>
            </a:endParaRPr>
          </a:p>
        </p:txBody>
      </p:sp>
      <p:sp>
        <p:nvSpPr>
          <p:cNvPr id="18" name="Text 16"/>
          <p:cNvSpPr/>
          <p:nvPr/>
        </p:nvSpPr>
        <p:spPr>
          <a:xfrm>
            <a:off x="4114800" y="320040"/>
            <a:ext cx="4754880" cy="365760"/>
          </a:xfrm>
          <a:prstGeom prst="rect">
            <a:avLst/>
          </a:prstGeom>
          <a:noFill/>
          <a:ln/>
        </p:spPr>
        <p:txBody>
          <a:bodyPr wrap="square" lIns="0" tIns="0" rIns="0" bIns="0" rtlCol="0" anchor="ctr"/>
          <a:lstStyle/>
          <a:p>
            <a:pPr marL="0" indent="0" algn="l">
              <a:buNone/>
            </a:pPr>
            <a:r>
              <a:rPr lang="en-US" sz="1000" b="1" kern="0" spc="400" dirty="0">
                <a:solidFill>
                  <a:schemeClr val="bg1"/>
                </a:solidFill>
                <a:latin typeface="Arial" pitchFamily="34" charset="0"/>
                <a:ea typeface="Arial" pitchFamily="34" charset="-122"/>
                <a:cs typeface="Arial" pitchFamily="34" charset="-120"/>
              </a:rPr>
              <a:t>COMPANY OVERVIEW</a:t>
            </a:r>
            <a:endParaRPr lang="en-US" sz="1000" b="1" dirty="0">
              <a:solidFill>
                <a:schemeClr val="bg1"/>
              </a:solidFill>
            </a:endParaRPr>
          </a:p>
        </p:txBody>
      </p:sp>
      <p:sp>
        <p:nvSpPr>
          <p:cNvPr id="19" name="Text 17"/>
          <p:cNvSpPr/>
          <p:nvPr/>
        </p:nvSpPr>
        <p:spPr>
          <a:xfrm>
            <a:off x="4114800" y="658368"/>
            <a:ext cx="4754880" cy="502920"/>
          </a:xfrm>
          <a:prstGeom prst="rect">
            <a:avLst/>
          </a:prstGeom>
          <a:noFill/>
          <a:ln/>
        </p:spPr>
        <p:txBody>
          <a:bodyPr wrap="square" lIns="0" tIns="0" rIns="0" bIns="0" rtlCol="0" anchor="ctr"/>
          <a:lstStyle/>
          <a:p>
            <a:pPr marL="0" indent="0" algn="l">
              <a:buNone/>
            </a:pPr>
            <a:r>
              <a:rPr lang="en-US" sz="2400" b="1" dirty="0">
                <a:solidFill>
                  <a:schemeClr val="bg1"/>
                </a:solidFill>
                <a:latin typeface="Arial Black" pitchFamily="34" charset="0"/>
                <a:ea typeface="Arial Black" pitchFamily="34" charset="-122"/>
                <a:cs typeface="Arial Black" pitchFamily="34" charset="-120"/>
              </a:rPr>
              <a:t>Who is Rio Tinto?</a:t>
            </a:r>
            <a:endParaRPr lang="en-US" sz="2400" b="1" dirty="0">
              <a:solidFill>
                <a:schemeClr val="bg1"/>
              </a:solidFill>
            </a:endParaRPr>
          </a:p>
        </p:txBody>
      </p:sp>
      <p:sp>
        <p:nvSpPr>
          <p:cNvPr id="20" name="Text 18"/>
          <p:cNvSpPr/>
          <p:nvPr/>
        </p:nvSpPr>
        <p:spPr>
          <a:xfrm>
            <a:off x="4114800" y="1298448"/>
            <a:ext cx="4754880" cy="1463040"/>
          </a:xfrm>
          <a:prstGeom prst="rect">
            <a:avLst/>
          </a:prstGeom>
          <a:noFill/>
          <a:ln/>
        </p:spPr>
        <p:txBody>
          <a:bodyPr wrap="square" lIns="0" tIns="0" rIns="0" bIns="0" rtlCol="0" anchor="ctr"/>
          <a:lstStyle/>
          <a:p>
            <a:pPr marL="0" indent="0" algn="l">
              <a:buNone/>
            </a:pPr>
            <a:r>
              <a:rPr lang="en-US" sz="1100" b="1" dirty="0">
                <a:solidFill>
                  <a:schemeClr val="bg1"/>
                </a:solidFill>
                <a:latin typeface="Arial" pitchFamily="34" charset="0"/>
                <a:ea typeface="Arial" pitchFamily="34" charset="-122"/>
                <a:cs typeface="Arial" pitchFamily="34" charset="-120"/>
              </a:rPr>
              <a:t>Rio Tinto is one of the world's largest diversified mining and metals companies, producing iron ore, copper, aluminium, lithium and minerals essential for the global energy transition. Founded in 1873, the group operates across 35 countries.</a:t>
            </a:r>
            <a:endParaRPr lang="en-US" sz="1100" b="1" dirty="0">
              <a:solidFill>
                <a:schemeClr val="bg1"/>
              </a:solidFill>
            </a:endParaRPr>
          </a:p>
          <a:p>
            <a:pPr marL="0" indent="0" algn="l">
              <a:buNone/>
            </a:pPr>
            <a:endParaRPr lang="en-US" sz="1100" b="1" dirty="0">
              <a:solidFill>
                <a:schemeClr val="bg1"/>
              </a:solidFill>
            </a:endParaRPr>
          </a:p>
          <a:p>
            <a:pPr marL="0" indent="0" algn="l">
              <a:buNone/>
            </a:pPr>
            <a:r>
              <a:rPr lang="en-US" sz="1100" b="1" dirty="0">
                <a:solidFill>
                  <a:schemeClr val="bg1"/>
                </a:solidFill>
                <a:latin typeface="Arial" pitchFamily="34" charset="0"/>
                <a:ea typeface="Arial" pitchFamily="34" charset="-122"/>
                <a:cs typeface="Arial" pitchFamily="34" charset="-120"/>
              </a:rPr>
              <a:t>Its dual-listed structure (Rio Tinto plc on the LSE and Rio Tinto Limited on the ASX) means it reports to shareholders in both the UK and Australia simultaneously.</a:t>
            </a:r>
            <a:endParaRPr lang="en-US" sz="1100" b="1" dirty="0">
              <a:solidFill>
                <a:schemeClr val="bg1"/>
              </a:solidFill>
            </a:endParaRPr>
          </a:p>
        </p:txBody>
      </p:sp>
      <p:sp>
        <p:nvSpPr>
          <p:cNvPr id="21" name="Shape 19"/>
          <p:cNvSpPr/>
          <p:nvPr/>
        </p:nvSpPr>
        <p:spPr>
          <a:xfrm>
            <a:off x="4114800" y="3017520"/>
            <a:ext cx="2286000" cy="822960"/>
          </a:xfrm>
          <a:prstGeom prst="rect">
            <a:avLst/>
          </a:prstGeom>
          <a:solidFill>
            <a:srgbClr val="1E2D40"/>
          </a:solidFill>
          <a:ln w="12700">
            <a:solidFill>
              <a:srgbClr val="8B0000"/>
            </a:solidFill>
            <a:prstDash val="solid"/>
          </a:ln>
          <a:effectLst>
            <a:outerShdw blurRad="63500" dist="25400" dir="8100000" algn="bl" rotWithShape="0">
              <a:srgbClr val="000000">
                <a:alpha val="12000"/>
              </a:srgbClr>
            </a:outerShdw>
          </a:effectLst>
        </p:spPr>
      </p:sp>
      <p:sp>
        <p:nvSpPr>
          <p:cNvPr id="22" name="Text 20"/>
          <p:cNvSpPr/>
          <p:nvPr/>
        </p:nvSpPr>
        <p:spPr>
          <a:xfrm>
            <a:off x="4206240" y="3063240"/>
            <a:ext cx="2103120"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Arial Black" pitchFamily="34" charset="0"/>
                <a:ea typeface="Arial Black" pitchFamily="34" charset="-122"/>
                <a:cs typeface="Arial Black" pitchFamily="34" charset="-120"/>
              </a:rPr>
              <a:t>606.4 Mt CO₂e</a:t>
            </a:r>
            <a:endParaRPr lang="en-US" sz="1500" b="1" dirty="0">
              <a:solidFill>
                <a:schemeClr val="bg1"/>
              </a:solidFill>
            </a:endParaRPr>
          </a:p>
        </p:txBody>
      </p:sp>
      <p:sp>
        <p:nvSpPr>
          <p:cNvPr id="23" name="Text 21"/>
          <p:cNvSpPr/>
          <p:nvPr/>
        </p:nvSpPr>
        <p:spPr>
          <a:xfrm>
            <a:off x="4160520" y="3438144"/>
            <a:ext cx="2194560" cy="329184"/>
          </a:xfrm>
          <a:prstGeom prst="rect">
            <a:avLst/>
          </a:prstGeom>
          <a:noFill/>
          <a:ln/>
        </p:spPr>
        <p:txBody>
          <a:bodyPr wrap="square" lIns="0" tIns="0" rIns="0" bIns="0" rtlCol="0" anchor="ctr"/>
          <a:lstStyle/>
          <a:p>
            <a:pPr marL="0" indent="0" algn="ctr">
              <a:buNone/>
            </a:pPr>
            <a:r>
              <a:rPr lang="en-US" sz="850" b="1" dirty="0">
                <a:solidFill>
                  <a:schemeClr val="bg1"/>
                </a:solidFill>
                <a:latin typeface="Arial" pitchFamily="34" charset="0"/>
                <a:ea typeface="Arial" pitchFamily="34" charset="-122"/>
                <a:cs typeface="Arial" pitchFamily="34" charset="-120"/>
              </a:rPr>
              <a:t>Total Value Chain Emissions (Scope 1+2+3)</a:t>
            </a:r>
            <a:endParaRPr lang="en-US" sz="850" b="1" dirty="0">
              <a:solidFill>
                <a:schemeClr val="bg1"/>
              </a:solidFill>
            </a:endParaRPr>
          </a:p>
        </p:txBody>
      </p:sp>
      <p:sp>
        <p:nvSpPr>
          <p:cNvPr id="24" name="Shape 22"/>
          <p:cNvSpPr/>
          <p:nvPr/>
        </p:nvSpPr>
        <p:spPr>
          <a:xfrm>
            <a:off x="6537960" y="3017520"/>
            <a:ext cx="2286000" cy="822960"/>
          </a:xfrm>
          <a:prstGeom prst="rect">
            <a:avLst/>
          </a:prstGeom>
          <a:solidFill>
            <a:srgbClr val="1E2D40"/>
          </a:solidFill>
          <a:ln w="12700">
            <a:solidFill>
              <a:srgbClr val="8B0000"/>
            </a:solidFill>
            <a:prstDash val="solid"/>
          </a:ln>
          <a:effectLst>
            <a:outerShdw blurRad="63500" dist="25400" dir="8100000" algn="bl" rotWithShape="0">
              <a:srgbClr val="000000">
                <a:alpha val="12000"/>
              </a:srgbClr>
            </a:outerShdw>
          </a:effectLst>
        </p:spPr>
      </p:sp>
      <p:sp>
        <p:nvSpPr>
          <p:cNvPr id="25" name="Text 23"/>
          <p:cNvSpPr/>
          <p:nvPr/>
        </p:nvSpPr>
        <p:spPr>
          <a:xfrm>
            <a:off x="6629400" y="3063240"/>
            <a:ext cx="2103120"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Arial Black" pitchFamily="34" charset="0"/>
                <a:ea typeface="Arial Black" pitchFamily="34" charset="-122"/>
                <a:cs typeface="Arial Black" pitchFamily="34" charset="-120"/>
              </a:rPr>
              <a:t>78%</a:t>
            </a:r>
            <a:endParaRPr lang="en-US" sz="1500" b="1" dirty="0">
              <a:solidFill>
                <a:schemeClr val="bg1"/>
              </a:solidFill>
            </a:endParaRPr>
          </a:p>
        </p:txBody>
      </p:sp>
      <p:sp>
        <p:nvSpPr>
          <p:cNvPr id="26" name="Text 24"/>
          <p:cNvSpPr/>
          <p:nvPr/>
        </p:nvSpPr>
        <p:spPr>
          <a:xfrm>
            <a:off x="6583680" y="3438144"/>
            <a:ext cx="2194560" cy="329184"/>
          </a:xfrm>
          <a:prstGeom prst="rect">
            <a:avLst/>
          </a:prstGeom>
          <a:noFill/>
          <a:ln/>
        </p:spPr>
        <p:txBody>
          <a:bodyPr wrap="square" lIns="0" tIns="0" rIns="0" bIns="0" rtlCol="0" anchor="ctr"/>
          <a:lstStyle/>
          <a:p>
            <a:pPr marL="0" indent="0" algn="ctr">
              <a:buNone/>
            </a:pPr>
            <a:r>
              <a:rPr lang="en-US" sz="850" b="1" dirty="0">
                <a:solidFill>
                  <a:schemeClr val="bg1"/>
                </a:solidFill>
                <a:latin typeface="Arial" pitchFamily="34" charset="0"/>
                <a:ea typeface="Arial" pitchFamily="34" charset="-122"/>
                <a:cs typeface="Arial" pitchFamily="34" charset="-120"/>
              </a:rPr>
              <a:t>Electricity from Renewable Sources</a:t>
            </a:r>
            <a:endParaRPr lang="en-US" sz="850" b="1" dirty="0">
              <a:solidFill>
                <a:schemeClr val="bg1"/>
              </a:solidFill>
            </a:endParaRPr>
          </a:p>
        </p:txBody>
      </p:sp>
      <p:sp>
        <p:nvSpPr>
          <p:cNvPr id="27" name="Shape 25"/>
          <p:cNvSpPr/>
          <p:nvPr/>
        </p:nvSpPr>
        <p:spPr>
          <a:xfrm>
            <a:off x="4114800" y="3977640"/>
            <a:ext cx="2286000" cy="822960"/>
          </a:xfrm>
          <a:prstGeom prst="rect">
            <a:avLst/>
          </a:prstGeom>
          <a:solidFill>
            <a:srgbClr val="1E2D40"/>
          </a:solidFill>
          <a:ln w="12700">
            <a:solidFill>
              <a:srgbClr val="8B0000"/>
            </a:solidFill>
            <a:prstDash val="solid"/>
          </a:ln>
          <a:effectLst>
            <a:outerShdw blurRad="63500" dist="25400" dir="8100000" algn="bl" rotWithShape="0">
              <a:srgbClr val="000000">
                <a:alpha val="12000"/>
              </a:srgbClr>
            </a:outerShdw>
          </a:effectLst>
        </p:spPr>
      </p:sp>
      <p:sp>
        <p:nvSpPr>
          <p:cNvPr id="28" name="Text 26"/>
          <p:cNvSpPr/>
          <p:nvPr/>
        </p:nvSpPr>
        <p:spPr>
          <a:xfrm>
            <a:off x="4206240" y="4023360"/>
            <a:ext cx="2103120"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Arial Black" pitchFamily="34" charset="0"/>
                <a:ea typeface="Arial Black" pitchFamily="34" charset="-122"/>
                <a:cs typeface="Arial Black" pitchFamily="34" charset="-120"/>
              </a:rPr>
              <a:t>$589m</a:t>
            </a:r>
            <a:endParaRPr lang="en-US" sz="1500" b="1" dirty="0">
              <a:solidFill>
                <a:schemeClr val="bg1"/>
              </a:solidFill>
            </a:endParaRPr>
          </a:p>
        </p:txBody>
      </p:sp>
      <p:sp>
        <p:nvSpPr>
          <p:cNvPr id="29" name="Text 27"/>
          <p:cNvSpPr/>
          <p:nvPr/>
        </p:nvSpPr>
        <p:spPr>
          <a:xfrm>
            <a:off x="4160520" y="4398264"/>
            <a:ext cx="2194560" cy="329184"/>
          </a:xfrm>
          <a:prstGeom prst="rect">
            <a:avLst/>
          </a:prstGeom>
          <a:noFill/>
          <a:ln/>
        </p:spPr>
        <p:txBody>
          <a:bodyPr wrap="square" lIns="0" tIns="0" rIns="0" bIns="0" rtlCol="0" anchor="ctr"/>
          <a:lstStyle/>
          <a:p>
            <a:pPr marL="0" indent="0" algn="ctr">
              <a:buNone/>
            </a:pPr>
            <a:r>
              <a:rPr lang="en-US" sz="850" b="1" dirty="0">
                <a:solidFill>
                  <a:schemeClr val="bg1"/>
                </a:solidFill>
                <a:latin typeface="Arial" pitchFamily="34" charset="0"/>
                <a:ea typeface="Arial" pitchFamily="34" charset="-122"/>
                <a:cs typeface="Arial" pitchFamily="34" charset="-120"/>
              </a:rPr>
              <a:t>Total Decarbonisation Spend 2024</a:t>
            </a:r>
            <a:endParaRPr lang="en-US" sz="850" b="1" dirty="0">
              <a:solidFill>
                <a:schemeClr val="bg1"/>
              </a:solidFill>
            </a:endParaRPr>
          </a:p>
        </p:txBody>
      </p:sp>
      <p:sp>
        <p:nvSpPr>
          <p:cNvPr id="30" name="Shape 28"/>
          <p:cNvSpPr/>
          <p:nvPr/>
        </p:nvSpPr>
        <p:spPr>
          <a:xfrm>
            <a:off x="6537960" y="3977640"/>
            <a:ext cx="2286000" cy="822960"/>
          </a:xfrm>
          <a:prstGeom prst="rect">
            <a:avLst/>
          </a:prstGeom>
          <a:solidFill>
            <a:srgbClr val="1E2D40"/>
          </a:solidFill>
          <a:ln w="12700">
            <a:solidFill>
              <a:srgbClr val="8B0000"/>
            </a:solidFill>
            <a:prstDash val="solid"/>
          </a:ln>
          <a:effectLst>
            <a:outerShdw blurRad="63500" dist="25400" dir="8100000" algn="bl" rotWithShape="0">
              <a:srgbClr val="000000">
                <a:alpha val="12000"/>
              </a:srgbClr>
            </a:outerShdw>
          </a:effectLst>
        </p:spPr>
      </p:sp>
      <p:sp>
        <p:nvSpPr>
          <p:cNvPr id="31" name="Text 29"/>
          <p:cNvSpPr/>
          <p:nvPr/>
        </p:nvSpPr>
        <p:spPr>
          <a:xfrm>
            <a:off x="6629400" y="4023360"/>
            <a:ext cx="2103120" cy="347472"/>
          </a:xfrm>
          <a:prstGeom prst="rect">
            <a:avLst/>
          </a:prstGeom>
          <a:noFill/>
          <a:ln/>
        </p:spPr>
        <p:txBody>
          <a:bodyPr wrap="square" lIns="0" tIns="0" rIns="0" bIns="0" rtlCol="0" anchor="ctr"/>
          <a:lstStyle/>
          <a:p>
            <a:pPr marL="0" indent="0" algn="ctr">
              <a:buNone/>
            </a:pPr>
            <a:r>
              <a:rPr lang="en-US" sz="1500" b="1" dirty="0">
                <a:solidFill>
                  <a:schemeClr val="bg1"/>
                </a:solidFill>
                <a:latin typeface="Arial Black" pitchFamily="34" charset="0"/>
                <a:ea typeface="Arial Black" pitchFamily="34" charset="-122"/>
                <a:cs typeface="Arial Black" pitchFamily="34" charset="-120"/>
              </a:rPr>
              <a:t>574.6 Mt CO₂e</a:t>
            </a:r>
            <a:endParaRPr lang="en-US" sz="1500" b="1" dirty="0">
              <a:solidFill>
                <a:schemeClr val="bg1"/>
              </a:solidFill>
            </a:endParaRPr>
          </a:p>
        </p:txBody>
      </p:sp>
      <p:sp>
        <p:nvSpPr>
          <p:cNvPr id="32" name="Text 30"/>
          <p:cNvSpPr/>
          <p:nvPr/>
        </p:nvSpPr>
        <p:spPr>
          <a:xfrm>
            <a:off x="6583680" y="4398264"/>
            <a:ext cx="2194560" cy="329184"/>
          </a:xfrm>
          <a:prstGeom prst="rect">
            <a:avLst/>
          </a:prstGeom>
          <a:noFill/>
          <a:ln/>
        </p:spPr>
        <p:txBody>
          <a:bodyPr wrap="square" lIns="0" tIns="0" rIns="0" bIns="0" rtlCol="0" anchor="ctr"/>
          <a:lstStyle/>
          <a:p>
            <a:pPr marL="0" indent="0" algn="ctr">
              <a:buNone/>
            </a:pPr>
            <a:r>
              <a:rPr lang="en-US" sz="850" b="1" dirty="0">
                <a:solidFill>
                  <a:schemeClr val="bg1"/>
                </a:solidFill>
                <a:latin typeface="Arial" pitchFamily="34" charset="0"/>
                <a:ea typeface="Arial" pitchFamily="34" charset="-122"/>
                <a:cs typeface="Arial" pitchFamily="34" charset="-120"/>
              </a:rPr>
              <a:t>Scope 3 Emissions — Approx 19× Scope 1&amp;2</a:t>
            </a:r>
            <a:endParaRPr lang="en-US" sz="850" b="1" dirty="0">
              <a:solidFill>
                <a:schemeClr val="bg1"/>
              </a:solidFill>
            </a:endParaRPr>
          </a:p>
        </p:txBody>
      </p:sp>
      <p:sp>
        <p:nvSpPr>
          <p:cNvPr id="33" name="Text 31"/>
          <p:cNvSpPr/>
          <p:nvPr/>
        </p:nvSpPr>
        <p:spPr>
          <a:xfrm>
            <a:off x="4114800" y="4846320"/>
            <a:ext cx="4754880" cy="182880"/>
          </a:xfrm>
          <a:prstGeom prst="rect">
            <a:avLst/>
          </a:prstGeom>
          <a:noFill/>
          <a:ln/>
        </p:spPr>
        <p:txBody>
          <a:bodyPr wrap="square" lIns="0" tIns="0" rIns="0" bIns="0" rtlCol="0" anchor="ctr"/>
          <a:lstStyle/>
          <a:p>
            <a:pPr marL="0" indent="0">
              <a:buNone/>
            </a:pPr>
            <a:r>
              <a:rPr lang="en-US" sz="700" b="1" i="1" dirty="0">
                <a:solidFill>
                  <a:schemeClr val="bg1"/>
                </a:solidFill>
                <a:latin typeface="Arial" pitchFamily="34" charset="0"/>
                <a:ea typeface="Arial" pitchFamily="34" charset="-122"/>
                <a:cs typeface="Arial" pitchFamily="34" charset="-120"/>
              </a:rPr>
              <a:t>Source: Rio Tinto Annual Report 2024 | 2025 Climate Action Plan | Emissions Methodology 2024</a:t>
            </a:r>
            <a:endParaRPr lang="en-US" sz="700" b="1" dirty="0">
              <a:solidFill>
                <a:schemeClr val="bg1"/>
              </a:solidFill>
            </a:endParaRPr>
          </a:p>
        </p:txBody>
      </p:sp>
      <p:sp>
        <p:nvSpPr>
          <p:cNvPr id="34" name="Text 32"/>
          <p:cNvSpPr/>
          <p:nvPr/>
        </p:nvSpPr>
        <p:spPr>
          <a:xfrm>
            <a:off x="8778240" y="4892040"/>
            <a:ext cx="320040" cy="182880"/>
          </a:xfrm>
          <a:prstGeom prst="rect">
            <a:avLst/>
          </a:prstGeom>
          <a:noFill/>
          <a:ln/>
        </p:spPr>
        <p:txBody>
          <a:bodyPr wrap="square" lIns="0" tIns="0" rIns="0" bIns="0" rtlCol="0" anchor="ctr"/>
          <a:lstStyle/>
          <a:p>
            <a:pPr marL="0" indent="0" algn="r">
              <a:buNone/>
            </a:pPr>
            <a:r>
              <a:rPr lang="en-US" sz="700" b="1" dirty="0">
                <a:solidFill>
                  <a:schemeClr val="bg1"/>
                </a:solidFill>
              </a:rPr>
              <a:t>1 / 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8B0000"/>
          </a:solidFill>
          <a:ln w="12700">
            <a:solidFill>
              <a:srgbClr val="8B0000"/>
            </a:solidFill>
            <a:prstDash val="solid"/>
          </a:ln>
        </p:spPr>
      </p:sp>
      <p:sp>
        <p:nvSpPr>
          <p:cNvPr id="3" name="Text 1"/>
          <p:cNvSpPr/>
          <p:nvPr/>
        </p:nvSpPr>
        <p:spPr>
          <a:xfrm>
            <a:off x="274320" y="73152"/>
            <a:ext cx="5486400" cy="347472"/>
          </a:xfrm>
          <a:prstGeom prst="rect">
            <a:avLst/>
          </a:prstGeom>
          <a:noFill/>
          <a:ln/>
        </p:spPr>
        <p:txBody>
          <a:bodyPr wrap="square" lIns="0" tIns="0" rIns="0" bIns="0"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ESG SCORECARD 2024</a:t>
            </a:r>
            <a:endParaRPr lang="en-US" sz="2000" dirty="0"/>
          </a:p>
        </p:txBody>
      </p:sp>
      <p:sp>
        <p:nvSpPr>
          <p:cNvPr id="4" name="Text 2"/>
          <p:cNvSpPr/>
          <p:nvPr/>
        </p:nvSpPr>
        <p:spPr>
          <a:xfrm>
            <a:off x="274320" y="475488"/>
            <a:ext cx="7315200" cy="256032"/>
          </a:xfrm>
          <a:prstGeom prst="rect">
            <a:avLst/>
          </a:prstGeom>
          <a:noFill/>
          <a:ln/>
        </p:spPr>
        <p:txBody>
          <a:bodyPr wrap="square" lIns="0" tIns="0" rIns="0" bIns="0" rtlCol="0" anchor="ctr"/>
          <a:lstStyle/>
          <a:p>
            <a:pPr marL="0" indent="0">
              <a:buNone/>
            </a:pPr>
            <a:r>
              <a:rPr lang="en-US" sz="1000" dirty="0">
                <a:solidFill>
                  <a:srgbClr val="FADBD8"/>
                </a:solidFill>
                <a:latin typeface="Arial" pitchFamily="34" charset="0"/>
                <a:ea typeface="Arial" pitchFamily="34" charset="-122"/>
                <a:cs typeface="Arial" pitchFamily="34" charset="-120"/>
              </a:rPr>
              <a:t>Rio Tinto PLC — Learner Group Assessment | Max Score: 35</a:t>
            </a:r>
            <a:endParaRPr lang="en-US" sz="1000" dirty="0"/>
          </a:p>
        </p:txBody>
      </p:sp>
      <p:sp>
        <p:nvSpPr>
          <p:cNvPr id="5" name="Shape 3"/>
          <p:cNvSpPr/>
          <p:nvPr/>
        </p:nvSpPr>
        <p:spPr>
          <a:xfrm>
            <a:off x="7132320" y="36576"/>
            <a:ext cx="1874520" cy="749808"/>
          </a:xfrm>
          <a:prstGeom prst="rect">
            <a:avLst/>
          </a:prstGeom>
          <a:solidFill>
            <a:srgbClr val="D4AC0D"/>
          </a:solidFill>
          <a:ln w="12700">
            <a:solidFill>
              <a:srgbClr val="D4AC0D"/>
            </a:solidFill>
            <a:prstDash val="solid"/>
          </a:ln>
          <a:effectLst>
            <a:outerShdw blurRad="63500" dist="25400" dir="8100000" algn="bl" rotWithShape="0">
              <a:srgbClr val="000000">
                <a:alpha val="12000"/>
              </a:srgbClr>
            </a:outerShdw>
          </a:effectLst>
        </p:spPr>
      </p:sp>
      <p:sp>
        <p:nvSpPr>
          <p:cNvPr id="6" name="Text 4"/>
          <p:cNvSpPr/>
          <p:nvPr/>
        </p:nvSpPr>
        <p:spPr>
          <a:xfrm>
            <a:off x="7150608" y="54864"/>
            <a:ext cx="1828800" cy="384048"/>
          </a:xfrm>
          <a:prstGeom prst="rect">
            <a:avLst/>
          </a:prstGeom>
          <a:noFill/>
          <a:ln/>
        </p:spPr>
        <p:txBody>
          <a:bodyPr wrap="square" lIns="0" tIns="0" rIns="0" bIns="0" rtlCol="0" anchor="ctr"/>
          <a:lstStyle/>
          <a:p>
            <a:pPr marL="0" indent="0" algn="ctr">
              <a:buNone/>
            </a:pPr>
            <a:r>
              <a:rPr lang="en-US" sz="2200" b="1" dirty="0">
                <a:solidFill>
                  <a:srgbClr val="2C3E50"/>
                </a:solidFill>
                <a:latin typeface="Arial Black" pitchFamily="34" charset="0"/>
                <a:ea typeface="Arial Black" pitchFamily="34" charset="-122"/>
                <a:cs typeface="Arial Black" pitchFamily="34" charset="-120"/>
              </a:rPr>
              <a:t>32 / 35</a:t>
            </a:r>
            <a:endParaRPr lang="en-US" sz="2200" dirty="0"/>
          </a:p>
        </p:txBody>
      </p:sp>
      <p:sp>
        <p:nvSpPr>
          <p:cNvPr id="7" name="Text 5"/>
          <p:cNvSpPr/>
          <p:nvPr/>
        </p:nvSpPr>
        <p:spPr>
          <a:xfrm>
            <a:off x="7150608" y="457200"/>
            <a:ext cx="1828800" cy="256032"/>
          </a:xfrm>
          <a:prstGeom prst="rect">
            <a:avLst/>
          </a:prstGeom>
          <a:noFill/>
          <a:ln/>
        </p:spPr>
        <p:txBody>
          <a:bodyPr wrap="square" lIns="0" tIns="0" rIns="0" bIns="0" rtlCol="0" anchor="ctr"/>
          <a:lstStyle/>
          <a:p>
            <a:pPr marL="0" indent="0" algn="ctr">
              <a:buNone/>
            </a:pPr>
            <a:r>
              <a:rPr lang="en-US" sz="850" b="1" kern="0" spc="100" dirty="0">
                <a:solidFill>
                  <a:srgbClr val="2C3E50"/>
                </a:solidFill>
              </a:rPr>
              <a:t>OVERALL SCORE</a:t>
            </a:r>
            <a:endParaRPr lang="en-US" sz="850" dirty="0"/>
          </a:p>
        </p:txBody>
      </p:sp>
      <p:sp>
        <p:nvSpPr>
          <p:cNvPr id="8" name="Shape 6"/>
          <p:cNvSpPr/>
          <p:nvPr/>
        </p:nvSpPr>
        <p:spPr>
          <a:xfrm>
            <a:off x="228600" y="987552"/>
            <a:ext cx="2103120" cy="3931920"/>
          </a:xfrm>
          <a:prstGeom prst="rect">
            <a:avLst/>
          </a:prstGeom>
          <a:solidFill>
            <a:srgbClr val="FFFFFF"/>
          </a:solidFill>
          <a:ln w="25400">
            <a:solidFill>
              <a:srgbClr val="117A65"/>
            </a:solidFill>
            <a:prstDash val="solid"/>
          </a:ln>
          <a:effectLst>
            <a:outerShdw blurRad="63500" dist="25400" dir="8100000" algn="bl" rotWithShape="0">
              <a:srgbClr val="000000">
                <a:alpha val="12000"/>
              </a:srgbClr>
            </a:outerShdw>
          </a:effectLst>
        </p:spPr>
      </p:sp>
      <p:sp>
        <p:nvSpPr>
          <p:cNvPr id="9" name="Shape 7"/>
          <p:cNvSpPr/>
          <p:nvPr/>
        </p:nvSpPr>
        <p:spPr>
          <a:xfrm>
            <a:off x="228600" y="987552"/>
            <a:ext cx="2103120" cy="502920"/>
          </a:xfrm>
          <a:prstGeom prst="rect">
            <a:avLst/>
          </a:prstGeom>
          <a:solidFill>
            <a:srgbClr val="117A65"/>
          </a:solidFill>
          <a:ln w="12700">
            <a:solidFill>
              <a:srgbClr val="117A65"/>
            </a:solidFill>
            <a:prstDash val="solid"/>
          </a:ln>
        </p:spPr>
      </p:sp>
      <p:sp>
        <p:nvSpPr>
          <p:cNvPr id="10" name="Text 8"/>
          <p:cNvSpPr/>
          <p:nvPr/>
        </p:nvSpPr>
        <p:spPr>
          <a:xfrm>
            <a:off x="301752" y="1042416"/>
            <a:ext cx="1956816"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Reporting &amp; Controversy</a:t>
            </a:r>
            <a:endParaRPr lang="en-US" sz="1050" dirty="0"/>
          </a:p>
        </p:txBody>
      </p:sp>
      <p:sp>
        <p:nvSpPr>
          <p:cNvPr id="11" name="Shape 9"/>
          <p:cNvSpPr/>
          <p:nvPr/>
        </p:nvSpPr>
        <p:spPr>
          <a:xfrm>
            <a:off x="822960" y="1581912"/>
            <a:ext cx="914400" cy="640080"/>
          </a:xfrm>
          <a:prstGeom prst="rect">
            <a:avLst/>
          </a:prstGeom>
          <a:solidFill>
            <a:srgbClr val="D5F5E3"/>
          </a:solidFill>
          <a:ln w="19050">
            <a:solidFill>
              <a:srgbClr val="117A65"/>
            </a:solidFill>
            <a:prstDash val="solid"/>
          </a:ln>
        </p:spPr>
      </p:sp>
      <p:sp>
        <p:nvSpPr>
          <p:cNvPr id="12" name="Text 10"/>
          <p:cNvSpPr/>
          <p:nvPr/>
        </p:nvSpPr>
        <p:spPr>
          <a:xfrm>
            <a:off x="822960" y="1609344"/>
            <a:ext cx="914400" cy="310896"/>
          </a:xfrm>
          <a:prstGeom prst="rect">
            <a:avLst/>
          </a:prstGeom>
          <a:noFill/>
          <a:ln/>
        </p:spPr>
        <p:txBody>
          <a:bodyPr wrap="square" lIns="0" tIns="0" rIns="0" bIns="0" rtlCol="0" anchor="ctr"/>
          <a:lstStyle/>
          <a:p>
            <a:pPr marL="0" indent="0" algn="ctr">
              <a:buNone/>
            </a:pPr>
            <a:r>
              <a:rPr lang="en-US" sz="1800" b="1" dirty="0">
                <a:solidFill>
                  <a:srgbClr val="117A65"/>
                </a:solidFill>
                <a:latin typeface="Arial Black" pitchFamily="34" charset="0"/>
                <a:ea typeface="Arial Black" pitchFamily="34" charset="-122"/>
                <a:cs typeface="Arial Black" pitchFamily="34" charset="-120"/>
              </a:rPr>
              <a:t>5/5</a:t>
            </a:r>
            <a:endParaRPr lang="en-US" sz="1800" dirty="0"/>
          </a:p>
        </p:txBody>
      </p:sp>
      <p:sp>
        <p:nvSpPr>
          <p:cNvPr id="13" name="Text 11"/>
          <p:cNvSpPr/>
          <p:nvPr/>
        </p:nvSpPr>
        <p:spPr>
          <a:xfrm>
            <a:off x="822960" y="1911096"/>
            <a:ext cx="914400" cy="201168"/>
          </a:xfrm>
          <a:prstGeom prst="rect">
            <a:avLst/>
          </a:prstGeom>
          <a:noFill/>
          <a:ln/>
        </p:spPr>
        <p:txBody>
          <a:bodyPr wrap="square" lIns="0" tIns="0" rIns="0" bIns="0" rtlCol="0" anchor="ctr"/>
          <a:lstStyle/>
          <a:p>
            <a:pPr marL="0" indent="0" algn="ctr">
              <a:buNone/>
            </a:pPr>
            <a:r>
              <a:rPr lang="en-US" sz="900" b="1" dirty="0">
                <a:solidFill>
                  <a:srgbClr val="117A65"/>
                </a:solidFill>
              </a:rPr>
              <a:t>100%</a:t>
            </a:r>
            <a:endParaRPr lang="en-US" sz="900" dirty="0"/>
          </a:p>
        </p:txBody>
      </p:sp>
      <p:sp>
        <p:nvSpPr>
          <p:cNvPr id="14" name="Shape 12"/>
          <p:cNvSpPr/>
          <p:nvPr/>
        </p:nvSpPr>
        <p:spPr>
          <a:xfrm>
            <a:off x="338328" y="2340864"/>
            <a:ext cx="1883664" cy="128016"/>
          </a:xfrm>
          <a:prstGeom prst="rect">
            <a:avLst/>
          </a:prstGeom>
          <a:solidFill>
            <a:srgbClr val="D5D8DC"/>
          </a:solidFill>
          <a:ln w="12700">
            <a:solidFill>
              <a:srgbClr val="D5D8DC"/>
            </a:solidFill>
            <a:prstDash val="solid"/>
          </a:ln>
        </p:spPr>
      </p:sp>
      <p:sp>
        <p:nvSpPr>
          <p:cNvPr id="15" name="Shape 13"/>
          <p:cNvSpPr/>
          <p:nvPr/>
        </p:nvSpPr>
        <p:spPr>
          <a:xfrm>
            <a:off x="338328" y="2340864"/>
            <a:ext cx="1883664" cy="128016"/>
          </a:xfrm>
          <a:prstGeom prst="rect">
            <a:avLst/>
          </a:prstGeom>
          <a:solidFill>
            <a:srgbClr val="117A65"/>
          </a:solidFill>
          <a:ln w="12700">
            <a:solidFill>
              <a:srgbClr val="117A65"/>
            </a:solidFill>
            <a:prstDash val="solid"/>
          </a:ln>
        </p:spPr>
      </p:sp>
      <p:sp>
        <p:nvSpPr>
          <p:cNvPr id="16" name="Text 14"/>
          <p:cNvSpPr/>
          <p:nvPr/>
        </p:nvSpPr>
        <p:spPr>
          <a:xfrm>
            <a:off x="301752" y="2560320"/>
            <a:ext cx="1956816" cy="22402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Arial" pitchFamily="34" charset="0"/>
                <a:ea typeface="Arial" pitchFamily="34" charset="-122"/>
                <a:cs typeface="Arial" pitchFamily="34" charset="-120"/>
              </a:rPr>
              <a:t>GRI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TCFD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CDP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SASB/ISSB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UNGC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No active controversy penalty</a:t>
            </a:r>
            <a:endParaRPr lang="en-US" sz="850" dirty="0"/>
          </a:p>
        </p:txBody>
      </p:sp>
      <p:sp>
        <p:nvSpPr>
          <p:cNvPr id="17" name="Shape 15"/>
          <p:cNvSpPr/>
          <p:nvPr/>
        </p:nvSpPr>
        <p:spPr>
          <a:xfrm>
            <a:off x="2441448" y="987552"/>
            <a:ext cx="2103120" cy="3931920"/>
          </a:xfrm>
          <a:prstGeom prst="rect">
            <a:avLst/>
          </a:prstGeom>
          <a:solidFill>
            <a:srgbClr val="FFFFFF"/>
          </a:solidFill>
          <a:ln w="25400">
            <a:solidFill>
              <a:srgbClr val="1E8449"/>
            </a:solidFill>
            <a:prstDash val="solid"/>
          </a:ln>
          <a:effectLst>
            <a:outerShdw blurRad="63500" dist="25400" dir="8100000" algn="bl" rotWithShape="0">
              <a:srgbClr val="000000">
                <a:alpha val="12000"/>
              </a:srgbClr>
            </a:outerShdw>
          </a:effectLst>
        </p:spPr>
      </p:sp>
      <p:sp>
        <p:nvSpPr>
          <p:cNvPr id="18" name="Shape 16"/>
          <p:cNvSpPr/>
          <p:nvPr/>
        </p:nvSpPr>
        <p:spPr>
          <a:xfrm>
            <a:off x="2441448" y="987552"/>
            <a:ext cx="2103120" cy="502920"/>
          </a:xfrm>
          <a:prstGeom prst="rect">
            <a:avLst/>
          </a:prstGeom>
          <a:solidFill>
            <a:srgbClr val="1E8449"/>
          </a:solidFill>
          <a:ln w="12700">
            <a:solidFill>
              <a:srgbClr val="1E8449"/>
            </a:solidFill>
            <a:prstDash val="solid"/>
          </a:ln>
        </p:spPr>
      </p:sp>
      <p:sp>
        <p:nvSpPr>
          <p:cNvPr id="19" name="Text 17"/>
          <p:cNvSpPr/>
          <p:nvPr/>
        </p:nvSpPr>
        <p:spPr>
          <a:xfrm>
            <a:off x="2514600" y="1042416"/>
            <a:ext cx="1956816"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Environmental</a:t>
            </a:r>
            <a:endParaRPr lang="en-US" sz="1050" dirty="0"/>
          </a:p>
        </p:txBody>
      </p:sp>
      <p:sp>
        <p:nvSpPr>
          <p:cNvPr id="20" name="Shape 18"/>
          <p:cNvSpPr/>
          <p:nvPr/>
        </p:nvSpPr>
        <p:spPr>
          <a:xfrm>
            <a:off x="3035808" y="1581912"/>
            <a:ext cx="914400" cy="640080"/>
          </a:xfrm>
          <a:prstGeom prst="rect">
            <a:avLst/>
          </a:prstGeom>
          <a:solidFill>
            <a:srgbClr val="D5F5E3"/>
          </a:solidFill>
          <a:ln w="19050">
            <a:solidFill>
              <a:srgbClr val="1E8449"/>
            </a:solidFill>
            <a:prstDash val="solid"/>
          </a:ln>
        </p:spPr>
      </p:sp>
      <p:sp>
        <p:nvSpPr>
          <p:cNvPr id="21" name="Text 19"/>
          <p:cNvSpPr/>
          <p:nvPr/>
        </p:nvSpPr>
        <p:spPr>
          <a:xfrm>
            <a:off x="3035808" y="1609344"/>
            <a:ext cx="914400" cy="310896"/>
          </a:xfrm>
          <a:prstGeom prst="rect">
            <a:avLst/>
          </a:prstGeom>
          <a:noFill/>
          <a:ln/>
        </p:spPr>
        <p:txBody>
          <a:bodyPr wrap="square" lIns="0" tIns="0" rIns="0" bIns="0" rtlCol="0" anchor="ctr"/>
          <a:lstStyle/>
          <a:p>
            <a:pPr marL="0" indent="0" algn="ctr">
              <a:buNone/>
            </a:pPr>
            <a:r>
              <a:rPr lang="en-US" sz="1800" b="1" dirty="0">
                <a:solidFill>
                  <a:srgbClr val="1E8449"/>
                </a:solidFill>
                <a:latin typeface="Arial Black" pitchFamily="34" charset="0"/>
                <a:ea typeface="Arial Black" pitchFamily="34" charset="-122"/>
                <a:cs typeface="Arial Black" pitchFamily="34" charset="-120"/>
              </a:rPr>
              <a:t>9/10</a:t>
            </a:r>
            <a:endParaRPr lang="en-US" sz="1800" dirty="0"/>
          </a:p>
        </p:txBody>
      </p:sp>
      <p:sp>
        <p:nvSpPr>
          <p:cNvPr id="22" name="Text 20"/>
          <p:cNvSpPr/>
          <p:nvPr/>
        </p:nvSpPr>
        <p:spPr>
          <a:xfrm>
            <a:off x="3035808" y="1911096"/>
            <a:ext cx="914400" cy="201168"/>
          </a:xfrm>
          <a:prstGeom prst="rect">
            <a:avLst/>
          </a:prstGeom>
          <a:noFill/>
          <a:ln/>
        </p:spPr>
        <p:txBody>
          <a:bodyPr wrap="square" lIns="0" tIns="0" rIns="0" bIns="0" rtlCol="0" anchor="ctr"/>
          <a:lstStyle/>
          <a:p>
            <a:pPr marL="0" indent="0" algn="ctr">
              <a:buNone/>
            </a:pPr>
            <a:r>
              <a:rPr lang="en-US" sz="900" b="1" dirty="0">
                <a:solidFill>
                  <a:srgbClr val="1E8449"/>
                </a:solidFill>
              </a:rPr>
              <a:t>90%</a:t>
            </a:r>
            <a:endParaRPr lang="en-US" sz="900" dirty="0"/>
          </a:p>
        </p:txBody>
      </p:sp>
      <p:sp>
        <p:nvSpPr>
          <p:cNvPr id="23" name="Shape 21"/>
          <p:cNvSpPr/>
          <p:nvPr/>
        </p:nvSpPr>
        <p:spPr>
          <a:xfrm>
            <a:off x="2551176" y="2340864"/>
            <a:ext cx="1883664" cy="128016"/>
          </a:xfrm>
          <a:prstGeom prst="rect">
            <a:avLst/>
          </a:prstGeom>
          <a:solidFill>
            <a:srgbClr val="D5D8DC"/>
          </a:solidFill>
          <a:ln w="12700">
            <a:solidFill>
              <a:srgbClr val="D5D8DC"/>
            </a:solidFill>
            <a:prstDash val="solid"/>
          </a:ln>
        </p:spPr>
      </p:sp>
      <p:sp>
        <p:nvSpPr>
          <p:cNvPr id="24" name="Shape 22"/>
          <p:cNvSpPr/>
          <p:nvPr/>
        </p:nvSpPr>
        <p:spPr>
          <a:xfrm>
            <a:off x="2551176" y="2340864"/>
            <a:ext cx="1695298" cy="128016"/>
          </a:xfrm>
          <a:prstGeom prst="rect">
            <a:avLst/>
          </a:prstGeom>
          <a:solidFill>
            <a:srgbClr val="1E8449"/>
          </a:solidFill>
          <a:ln w="12700">
            <a:solidFill>
              <a:srgbClr val="1E8449"/>
            </a:solidFill>
            <a:prstDash val="solid"/>
          </a:ln>
        </p:spPr>
      </p:sp>
      <p:sp>
        <p:nvSpPr>
          <p:cNvPr id="25" name="Text 23"/>
          <p:cNvSpPr/>
          <p:nvPr/>
        </p:nvSpPr>
        <p:spPr>
          <a:xfrm>
            <a:off x="2514600" y="2560320"/>
            <a:ext cx="1956816" cy="22402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Arial" pitchFamily="34" charset="0"/>
                <a:ea typeface="Arial" pitchFamily="34" charset="-122"/>
                <a:cs typeface="Arial" pitchFamily="34" charset="-120"/>
              </a:rPr>
              <a:t>Policy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GHG Emissions ✓ (Scope 1,2,3)</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Energy Mgmt ✓ (78% renewable)</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Water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Waste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Biodiversity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Climate Risk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Resource Eff.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Sust. Sourcing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Compliance: 0</a:t>
            </a:r>
            <a:endParaRPr lang="en-US" sz="850" dirty="0"/>
          </a:p>
        </p:txBody>
      </p:sp>
      <p:sp>
        <p:nvSpPr>
          <p:cNvPr id="26" name="Shape 24"/>
          <p:cNvSpPr/>
          <p:nvPr/>
        </p:nvSpPr>
        <p:spPr>
          <a:xfrm>
            <a:off x="4654296" y="987552"/>
            <a:ext cx="2103120" cy="3931920"/>
          </a:xfrm>
          <a:prstGeom prst="rect">
            <a:avLst/>
          </a:prstGeom>
          <a:solidFill>
            <a:srgbClr val="FFFFFF"/>
          </a:solidFill>
          <a:ln w="25400">
            <a:solidFill>
              <a:srgbClr val="1A5276"/>
            </a:solidFill>
            <a:prstDash val="solid"/>
          </a:ln>
          <a:effectLst>
            <a:outerShdw blurRad="63500" dist="25400" dir="8100000" algn="bl" rotWithShape="0">
              <a:srgbClr val="000000">
                <a:alpha val="12000"/>
              </a:srgbClr>
            </a:outerShdw>
          </a:effectLst>
        </p:spPr>
      </p:sp>
      <p:sp>
        <p:nvSpPr>
          <p:cNvPr id="27" name="Shape 25"/>
          <p:cNvSpPr/>
          <p:nvPr/>
        </p:nvSpPr>
        <p:spPr>
          <a:xfrm>
            <a:off x="4654296" y="987552"/>
            <a:ext cx="2103120" cy="502920"/>
          </a:xfrm>
          <a:prstGeom prst="rect">
            <a:avLst/>
          </a:prstGeom>
          <a:solidFill>
            <a:srgbClr val="1A5276"/>
          </a:solidFill>
          <a:ln w="12700">
            <a:solidFill>
              <a:srgbClr val="1A5276"/>
            </a:solidFill>
            <a:prstDash val="solid"/>
          </a:ln>
        </p:spPr>
      </p:sp>
      <p:sp>
        <p:nvSpPr>
          <p:cNvPr id="28" name="Text 26"/>
          <p:cNvSpPr/>
          <p:nvPr/>
        </p:nvSpPr>
        <p:spPr>
          <a:xfrm>
            <a:off x="4727448" y="1042416"/>
            <a:ext cx="1956816"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Social</a:t>
            </a:r>
            <a:endParaRPr lang="en-US" sz="1050" dirty="0"/>
          </a:p>
        </p:txBody>
      </p:sp>
      <p:sp>
        <p:nvSpPr>
          <p:cNvPr id="29" name="Shape 27"/>
          <p:cNvSpPr/>
          <p:nvPr/>
        </p:nvSpPr>
        <p:spPr>
          <a:xfrm>
            <a:off x="5248656" y="1581912"/>
            <a:ext cx="914400" cy="640080"/>
          </a:xfrm>
          <a:prstGeom prst="rect">
            <a:avLst/>
          </a:prstGeom>
          <a:solidFill>
            <a:srgbClr val="D6EAF8"/>
          </a:solidFill>
          <a:ln w="19050">
            <a:solidFill>
              <a:srgbClr val="1A5276"/>
            </a:solidFill>
            <a:prstDash val="solid"/>
          </a:ln>
        </p:spPr>
      </p:sp>
      <p:sp>
        <p:nvSpPr>
          <p:cNvPr id="30" name="Text 28"/>
          <p:cNvSpPr/>
          <p:nvPr/>
        </p:nvSpPr>
        <p:spPr>
          <a:xfrm>
            <a:off x="5248656" y="1609344"/>
            <a:ext cx="914400" cy="310896"/>
          </a:xfrm>
          <a:prstGeom prst="rect">
            <a:avLst/>
          </a:prstGeom>
          <a:noFill/>
          <a:ln/>
        </p:spPr>
        <p:txBody>
          <a:bodyPr wrap="square" lIns="0" tIns="0" rIns="0" bIns="0" rtlCol="0" anchor="ctr"/>
          <a:lstStyle/>
          <a:p>
            <a:pPr marL="0" indent="0" algn="ctr">
              <a:buNone/>
            </a:pPr>
            <a:r>
              <a:rPr lang="en-US" sz="1800" b="1" dirty="0">
                <a:solidFill>
                  <a:srgbClr val="1A5276"/>
                </a:solidFill>
                <a:latin typeface="Arial Black" pitchFamily="34" charset="0"/>
                <a:ea typeface="Arial Black" pitchFamily="34" charset="-122"/>
                <a:cs typeface="Arial Black" pitchFamily="34" charset="-120"/>
              </a:rPr>
              <a:t>8/10</a:t>
            </a:r>
            <a:endParaRPr lang="en-US" sz="1800" dirty="0"/>
          </a:p>
        </p:txBody>
      </p:sp>
      <p:sp>
        <p:nvSpPr>
          <p:cNvPr id="31" name="Text 29"/>
          <p:cNvSpPr/>
          <p:nvPr/>
        </p:nvSpPr>
        <p:spPr>
          <a:xfrm>
            <a:off x="5248656" y="1911096"/>
            <a:ext cx="914400" cy="201168"/>
          </a:xfrm>
          <a:prstGeom prst="rect">
            <a:avLst/>
          </a:prstGeom>
          <a:noFill/>
          <a:ln/>
        </p:spPr>
        <p:txBody>
          <a:bodyPr wrap="square" lIns="0" tIns="0" rIns="0" bIns="0" rtlCol="0" anchor="ctr"/>
          <a:lstStyle/>
          <a:p>
            <a:pPr marL="0" indent="0" algn="ctr">
              <a:buNone/>
            </a:pPr>
            <a:r>
              <a:rPr lang="en-US" sz="900" b="1" dirty="0">
                <a:solidFill>
                  <a:srgbClr val="1A5276"/>
                </a:solidFill>
              </a:rPr>
              <a:t>80%</a:t>
            </a:r>
            <a:endParaRPr lang="en-US" sz="900" dirty="0"/>
          </a:p>
        </p:txBody>
      </p:sp>
      <p:sp>
        <p:nvSpPr>
          <p:cNvPr id="32" name="Shape 30"/>
          <p:cNvSpPr/>
          <p:nvPr/>
        </p:nvSpPr>
        <p:spPr>
          <a:xfrm>
            <a:off x="4764024" y="2340864"/>
            <a:ext cx="1883664" cy="128016"/>
          </a:xfrm>
          <a:prstGeom prst="rect">
            <a:avLst/>
          </a:prstGeom>
          <a:solidFill>
            <a:srgbClr val="D5D8DC"/>
          </a:solidFill>
          <a:ln w="12700">
            <a:solidFill>
              <a:srgbClr val="D5D8DC"/>
            </a:solidFill>
            <a:prstDash val="solid"/>
          </a:ln>
        </p:spPr>
      </p:sp>
      <p:sp>
        <p:nvSpPr>
          <p:cNvPr id="33" name="Shape 31"/>
          <p:cNvSpPr/>
          <p:nvPr/>
        </p:nvSpPr>
        <p:spPr>
          <a:xfrm>
            <a:off x="4764024" y="2340864"/>
            <a:ext cx="1506931" cy="128016"/>
          </a:xfrm>
          <a:prstGeom prst="rect">
            <a:avLst/>
          </a:prstGeom>
          <a:solidFill>
            <a:srgbClr val="1A5276"/>
          </a:solidFill>
          <a:ln w="12700">
            <a:solidFill>
              <a:srgbClr val="1A5276"/>
            </a:solidFill>
            <a:prstDash val="solid"/>
          </a:ln>
        </p:spPr>
      </p:sp>
      <p:sp>
        <p:nvSpPr>
          <p:cNvPr id="34" name="Text 32"/>
          <p:cNvSpPr/>
          <p:nvPr/>
        </p:nvSpPr>
        <p:spPr>
          <a:xfrm>
            <a:off x="4727448" y="2560320"/>
            <a:ext cx="1956816" cy="22402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Arial" pitchFamily="34" charset="0"/>
                <a:ea typeface="Arial" pitchFamily="34" charset="-122"/>
                <a:cs typeface="Arial" pitchFamily="34" charset="-120"/>
              </a:rPr>
              <a:t>Well-being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Diversity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Training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Labour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Human Rights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Community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Customer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Data Privacy: 0</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Supply Chain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Compliance: 0</a:t>
            </a:r>
            <a:endParaRPr lang="en-US" sz="850" dirty="0"/>
          </a:p>
        </p:txBody>
      </p:sp>
      <p:sp>
        <p:nvSpPr>
          <p:cNvPr id="35" name="Shape 33"/>
          <p:cNvSpPr/>
          <p:nvPr/>
        </p:nvSpPr>
        <p:spPr>
          <a:xfrm>
            <a:off x="6867144" y="987552"/>
            <a:ext cx="2103120" cy="3931920"/>
          </a:xfrm>
          <a:prstGeom prst="rect">
            <a:avLst/>
          </a:prstGeom>
          <a:solidFill>
            <a:srgbClr val="FFFFFF"/>
          </a:solidFill>
          <a:ln w="25400">
            <a:solidFill>
              <a:srgbClr val="4A235A"/>
            </a:solidFill>
            <a:prstDash val="solid"/>
          </a:ln>
          <a:effectLst>
            <a:outerShdw blurRad="63500" dist="25400" dir="8100000" algn="bl" rotWithShape="0">
              <a:srgbClr val="000000">
                <a:alpha val="12000"/>
              </a:srgbClr>
            </a:outerShdw>
          </a:effectLst>
        </p:spPr>
      </p:sp>
      <p:sp>
        <p:nvSpPr>
          <p:cNvPr id="36" name="Shape 34"/>
          <p:cNvSpPr/>
          <p:nvPr/>
        </p:nvSpPr>
        <p:spPr>
          <a:xfrm>
            <a:off x="6867144" y="987552"/>
            <a:ext cx="2103120" cy="502920"/>
          </a:xfrm>
          <a:prstGeom prst="rect">
            <a:avLst/>
          </a:prstGeom>
          <a:solidFill>
            <a:srgbClr val="4A235A"/>
          </a:solidFill>
          <a:ln w="12700">
            <a:solidFill>
              <a:srgbClr val="4A235A"/>
            </a:solidFill>
            <a:prstDash val="solid"/>
          </a:ln>
        </p:spPr>
      </p:sp>
      <p:sp>
        <p:nvSpPr>
          <p:cNvPr id="37" name="Text 35"/>
          <p:cNvSpPr/>
          <p:nvPr/>
        </p:nvSpPr>
        <p:spPr>
          <a:xfrm>
            <a:off x="6940296" y="1042416"/>
            <a:ext cx="1956816" cy="384048"/>
          </a:xfrm>
          <a:prstGeom prst="rect">
            <a:avLst/>
          </a:prstGeom>
          <a:noFill/>
          <a:ln/>
        </p:spPr>
        <p:txBody>
          <a:bodyPr wrap="square" lIns="0" tIns="0" rIns="0" bIns="0" rtlCol="0" anchor="ctr"/>
          <a:lstStyle/>
          <a:p>
            <a:pPr marL="0" indent="0">
              <a:buNone/>
            </a:pPr>
            <a:r>
              <a:rPr lang="en-US" sz="1050" b="1" dirty="0">
                <a:solidFill>
                  <a:srgbClr val="FFFFFF"/>
                </a:solidFill>
                <a:latin typeface="Arial" pitchFamily="34" charset="0"/>
                <a:ea typeface="Arial" pitchFamily="34" charset="-122"/>
                <a:cs typeface="Arial" pitchFamily="34" charset="-120"/>
              </a:rPr>
              <a:t>Governance</a:t>
            </a:r>
            <a:endParaRPr lang="en-US" sz="1050" dirty="0"/>
          </a:p>
        </p:txBody>
      </p:sp>
      <p:sp>
        <p:nvSpPr>
          <p:cNvPr id="38" name="Shape 36"/>
          <p:cNvSpPr/>
          <p:nvPr/>
        </p:nvSpPr>
        <p:spPr>
          <a:xfrm>
            <a:off x="7461504" y="1581912"/>
            <a:ext cx="914400" cy="640080"/>
          </a:xfrm>
          <a:prstGeom prst="rect">
            <a:avLst/>
          </a:prstGeom>
          <a:solidFill>
            <a:srgbClr val="D5F5E3"/>
          </a:solidFill>
          <a:ln w="19050">
            <a:solidFill>
              <a:srgbClr val="4A235A"/>
            </a:solidFill>
            <a:prstDash val="solid"/>
          </a:ln>
        </p:spPr>
      </p:sp>
      <p:sp>
        <p:nvSpPr>
          <p:cNvPr id="39" name="Text 37"/>
          <p:cNvSpPr/>
          <p:nvPr/>
        </p:nvSpPr>
        <p:spPr>
          <a:xfrm>
            <a:off x="7461504" y="1609344"/>
            <a:ext cx="914400" cy="310896"/>
          </a:xfrm>
          <a:prstGeom prst="rect">
            <a:avLst/>
          </a:prstGeom>
          <a:noFill/>
          <a:ln/>
        </p:spPr>
        <p:txBody>
          <a:bodyPr wrap="square" lIns="0" tIns="0" rIns="0" bIns="0" rtlCol="0" anchor="ctr"/>
          <a:lstStyle/>
          <a:p>
            <a:pPr marL="0" indent="0" algn="ctr">
              <a:buNone/>
            </a:pPr>
            <a:r>
              <a:rPr lang="en-US" sz="1800" b="1" dirty="0">
                <a:solidFill>
                  <a:srgbClr val="4A235A"/>
                </a:solidFill>
                <a:latin typeface="Arial Black" pitchFamily="34" charset="0"/>
                <a:ea typeface="Arial Black" pitchFamily="34" charset="-122"/>
                <a:cs typeface="Arial Black" pitchFamily="34" charset="-120"/>
              </a:rPr>
              <a:t>9/10</a:t>
            </a:r>
            <a:endParaRPr lang="en-US" sz="1800" dirty="0"/>
          </a:p>
        </p:txBody>
      </p:sp>
      <p:sp>
        <p:nvSpPr>
          <p:cNvPr id="40" name="Text 38"/>
          <p:cNvSpPr/>
          <p:nvPr/>
        </p:nvSpPr>
        <p:spPr>
          <a:xfrm>
            <a:off x="7461504" y="1911096"/>
            <a:ext cx="914400" cy="201168"/>
          </a:xfrm>
          <a:prstGeom prst="rect">
            <a:avLst/>
          </a:prstGeom>
          <a:noFill/>
          <a:ln/>
        </p:spPr>
        <p:txBody>
          <a:bodyPr wrap="square" lIns="0" tIns="0" rIns="0" bIns="0" rtlCol="0" anchor="ctr"/>
          <a:lstStyle/>
          <a:p>
            <a:pPr marL="0" indent="0" algn="ctr">
              <a:buNone/>
            </a:pPr>
            <a:r>
              <a:rPr lang="en-US" sz="900" b="1" dirty="0">
                <a:solidFill>
                  <a:srgbClr val="4A235A"/>
                </a:solidFill>
              </a:rPr>
              <a:t>90%</a:t>
            </a:r>
            <a:endParaRPr lang="en-US" sz="900" dirty="0"/>
          </a:p>
        </p:txBody>
      </p:sp>
      <p:sp>
        <p:nvSpPr>
          <p:cNvPr id="41" name="Shape 39"/>
          <p:cNvSpPr/>
          <p:nvPr/>
        </p:nvSpPr>
        <p:spPr>
          <a:xfrm>
            <a:off x="6976872" y="2340864"/>
            <a:ext cx="1883664" cy="128016"/>
          </a:xfrm>
          <a:prstGeom prst="rect">
            <a:avLst/>
          </a:prstGeom>
          <a:solidFill>
            <a:srgbClr val="D5D8DC"/>
          </a:solidFill>
          <a:ln w="12700">
            <a:solidFill>
              <a:srgbClr val="D5D8DC"/>
            </a:solidFill>
            <a:prstDash val="solid"/>
          </a:ln>
        </p:spPr>
      </p:sp>
      <p:sp>
        <p:nvSpPr>
          <p:cNvPr id="42" name="Shape 40"/>
          <p:cNvSpPr/>
          <p:nvPr/>
        </p:nvSpPr>
        <p:spPr>
          <a:xfrm>
            <a:off x="6976872" y="2340864"/>
            <a:ext cx="1695298" cy="128016"/>
          </a:xfrm>
          <a:prstGeom prst="rect">
            <a:avLst/>
          </a:prstGeom>
          <a:solidFill>
            <a:srgbClr val="4A235A"/>
          </a:solidFill>
          <a:ln w="12700">
            <a:solidFill>
              <a:srgbClr val="4A235A"/>
            </a:solidFill>
            <a:prstDash val="solid"/>
          </a:ln>
        </p:spPr>
      </p:sp>
      <p:sp>
        <p:nvSpPr>
          <p:cNvPr id="43" name="Text 41"/>
          <p:cNvSpPr/>
          <p:nvPr/>
        </p:nvSpPr>
        <p:spPr>
          <a:xfrm>
            <a:off x="6940296" y="2560320"/>
            <a:ext cx="1956816" cy="2240280"/>
          </a:xfrm>
          <a:prstGeom prst="rect">
            <a:avLst/>
          </a:prstGeom>
          <a:noFill/>
          <a:ln/>
        </p:spPr>
        <p:txBody>
          <a:bodyPr wrap="square" lIns="0" tIns="0" rIns="0" bIns="0" rtlCol="0" anchor="ctr"/>
          <a:lstStyle/>
          <a:p>
            <a:pPr marL="342900" indent="-342900">
              <a:buSzPct val="100000"/>
              <a:buChar char="•"/>
            </a:pPr>
            <a:r>
              <a:rPr lang="en-US" sz="850" dirty="0">
                <a:solidFill>
                  <a:srgbClr val="333333"/>
                </a:solidFill>
                <a:latin typeface="Arial" pitchFamily="34" charset="0"/>
                <a:ea typeface="Arial" pitchFamily="34" charset="-122"/>
                <a:cs typeface="Arial" pitchFamily="34" charset="-120"/>
              </a:rPr>
              <a:t>Board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Ethics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Transparency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Risk Mgmt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Exec. Comp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Shareholder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Audit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Regulatory ✓</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Whistleblower: 0</a:t>
            </a:r>
            <a:endParaRPr lang="en-US" sz="850" dirty="0"/>
          </a:p>
          <a:p>
            <a:pPr marL="342900" indent="-342900">
              <a:buSzPct val="100000"/>
              <a:buChar char="•"/>
            </a:pPr>
            <a:r>
              <a:rPr lang="en-US" sz="850" dirty="0">
                <a:solidFill>
                  <a:srgbClr val="333333"/>
                </a:solidFill>
                <a:latin typeface="Arial" pitchFamily="34" charset="0"/>
                <a:ea typeface="Arial" pitchFamily="34" charset="-122"/>
                <a:cs typeface="Arial" pitchFamily="34" charset="-120"/>
              </a:rPr>
              <a:t>ESG Gov. ✓</a:t>
            </a:r>
            <a:endParaRPr lang="en-US" sz="850" dirty="0"/>
          </a:p>
        </p:txBody>
      </p:sp>
      <p:sp>
        <p:nvSpPr>
          <p:cNvPr id="44" name="Text 42"/>
          <p:cNvSpPr/>
          <p:nvPr/>
        </p:nvSpPr>
        <p:spPr>
          <a:xfrm>
            <a:off x="228600" y="4956048"/>
            <a:ext cx="8686800" cy="164592"/>
          </a:xfrm>
          <a:prstGeom prst="rect">
            <a:avLst/>
          </a:prstGeom>
          <a:noFill/>
          <a:ln/>
        </p:spPr>
        <p:txBody>
          <a:bodyPr wrap="square" lIns="0" tIns="0" rIns="0" bIns="0" rtlCol="0" anchor="ctr"/>
          <a:lstStyle/>
          <a:p>
            <a:pPr marL="0" indent="0">
              <a:buNone/>
            </a:pPr>
            <a:r>
              <a:rPr lang="en-US" sz="700" i="1" dirty="0">
                <a:solidFill>
                  <a:srgbClr val="7F8C8D"/>
                </a:solidFill>
                <a:latin typeface="Arial" pitchFamily="34" charset="0"/>
                <a:ea typeface="Arial" pitchFamily="34" charset="-122"/>
                <a:cs typeface="Arial" pitchFamily="34" charset="-120"/>
              </a:rPr>
              <a:t>Source: Rio Tinto Annual Report 2024 | 2025 Climate Action Plan | Emissions Methodology 2024 | Learner Group Assessment</a:t>
            </a:r>
            <a:endParaRPr lang="en-US" sz="700" dirty="0"/>
          </a:p>
        </p:txBody>
      </p:sp>
      <p:sp>
        <p:nvSpPr>
          <p:cNvPr id="45" name="Text 43"/>
          <p:cNvSpPr/>
          <p:nvPr/>
        </p:nvSpPr>
        <p:spPr>
          <a:xfrm>
            <a:off x="8778240" y="4956048"/>
            <a:ext cx="320040" cy="164592"/>
          </a:xfrm>
          <a:prstGeom prst="rect">
            <a:avLst/>
          </a:prstGeom>
          <a:noFill/>
          <a:ln/>
        </p:spPr>
        <p:txBody>
          <a:bodyPr wrap="square" lIns="0" tIns="0" rIns="0" bIns="0" rtlCol="0" anchor="ctr"/>
          <a:lstStyle/>
          <a:p>
            <a:pPr marL="0" indent="0" algn="r">
              <a:buNone/>
            </a:pPr>
            <a:r>
              <a:rPr lang="en-US" sz="700" dirty="0">
                <a:solidFill>
                  <a:srgbClr val="7F8C8D"/>
                </a:solidFill>
              </a:rPr>
              <a:t>2 / 5</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C1C"/>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8B0000"/>
          </a:solidFill>
          <a:ln w="12700">
            <a:solidFill>
              <a:srgbClr val="8B0000"/>
            </a:solidFill>
            <a:prstDash val="solid"/>
          </a:ln>
        </p:spPr>
      </p:sp>
      <p:sp>
        <p:nvSpPr>
          <p:cNvPr id="3" name="Text 1"/>
          <p:cNvSpPr/>
          <p:nvPr/>
        </p:nvSpPr>
        <p:spPr>
          <a:xfrm>
            <a:off x="365760" y="182880"/>
            <a:ext cx="8412480" cy="384048"/>
          </a:xfrm>
          <a:prstGeom prst="rect">
            <a:avLst/>
          </a:prstGeom>
          <a:noFill/>
          <a:ln/>
        </p:spPr>
        <p:txBody>
          <a:bodyPr wrap="square" lIns="0" tIns="0" rIns="0" bIns="0" rtlCol="0" anchor="ctr"/>
          <a:lstStyle/>
          <a:p>
            <a:pPr marL="0" indent="0">
              <a:buNone/>
            </a:pPr>
            <a:r>
              <a:rPr lang="en-US" sz="1100" b="1" kern="0" spc="400" dirty="0">
                <a:solidFill>
                  <a:schemeClr val="bg1"/>
                </a:solidFill>
                <a:latin typeface="Arial" pitchFamily="34" charset="0"/>
                <a:ea typeface="Arial" pitchFamily="34" charset="-122"/>
                <a:cs typeface="Arial" pitchFamily="34" charset="-120"/>
              </a:rPr>
              <a:t>⚠ CONTROVERSY</a:t>
            </a:r>
            <a:endParaRPr lang="en-US" sz="1100" b="1" dirty="0">
              <a:solidFill>
                <a:schemeClr val="bg1"/>
              </a:solidFill>
            </a:endParaRPr>
          </a:p>
        </p:txBody>
      </p:sp>
      <p:sp>
        <p:nvSpPr>
          <p:cNvPr id="4" name="Text 2"/>
          <p:cNvSpPr/>
          <p:nvPr/>
        </p:nvSpPr>
        <p:spPr>
          <a:xfrm>
            <a:off x="365760" y="502920"/>
            <a:ext cx="8412480" cy="640080"/>
          </a:xfrm>
          <a:prstGeom prst="rect">
            <a:avLst/>
          </a:prstGeom>
          <a:noFill/>
          <a:ln/>
        </p:spPr>
        <p:txBody>
          <a:bodyPr wrap="square" lIns="0" tIns="0" rIns="0" bIns="0" rtlCol="0" anchor="ctr"/>
          <a:lstStyle/>
          <a:p>
            <a:pPr marL="0" indent="0">
              <a:buNone/>
            </a:pPr>
            <a:r>
              <a:rPr lang="en-US" sz="2800" b="1" dirty="0">
                <a:solidFill>
                  <a:schemeClr val="bg1"/>
                </a:solidFill>
                <a:latin typeface="Arial Black" pitchFamily="34" charset="0"/>
                <a:ea typeface="Arial Black" pitchFamily="34" charset="-122"/>
                <a:cs typeface="Arial Black" pitchFamily="34" charset="-120"/>
              </a:rPr>
              <a:t>The Juukan Gorge Destruction (2020)</a:t>
            </a:r>
            <a:endParaRPr lang="en-US" sz="2800" b="1" dirty="0">
              <a:solidFill>
                <a:schemeClr val="bg1"/>
              </a:solidFill>
            </a:endParaRPr>
          </a:p>
        </p:txBody>
      </p:sp>
      <p:sp>
        <p:nvSpPr>
          <p:cNvPr id="5" name="Shape 3"/>
          <p:cNvSpPr/>
          <p:nvPr/>
        </p:nvSpPr>
        <p:spPr>
          <a:xfrm>
            <a:off x="365760" y="1280160"/>
            <a:ext cx="5394960" cy="2331720"/>
          </a:xfrm>
          <a:prstGeom prst="rect">
            <a:avLst/>
          </a:prstGeom>
          <a:solidFill>
            <a:srgbClr val="2C1A1A"/>
          </a:solidFill>
          <a:ln w="19050">
            <a:solidFill>
              <a:srgbClr val="8B0000"/>
            </a:solidFill>
            <a:prstDash val="solid"/>
          </a:ln>
          <a:effectLst>
            <a:outerShdw blurRad="63500" dist="25400" dir="8100000" algn="bl" rotWithShape="0">
              <a:srgbClr val="000000">
                <a:alpha val="12000"/>
              </a:srgbClr>
            </a:outerShdw>
          </a:effectLst>
        </p:spPr>
      </p:sp>
      <p:sp>
        <p:nvSpPr>
          <p:cNvPr id="6" name="Text 4"/>
          <p:cNvSpPr/>
          <p:nvPr/>
        </p:nvSpPr>
        <p:spPr>
          <a:xfrm>
            <a:off x="548640" y="1389888"/>
            <a:ext cx="5029200" cy="256032"/>
          </a:xfrm>
          <a:prstGeom prst="rect">
            <a:avLst/>
          </a:prstGeom>
          <a:noFill/>
          <a:ln/>
        </p:spPr>
        <p:txBody>
          <a:bodyPr wrap="square" lIns="0" tIns="0" rIns="0" bIns="0" rtlCol="0" anchor="ctr"/>
          <a:lstStyle/>
          <a:p>
            <a:pPr marL="0" indent="0">
              <a:buNone/>
            </a:pPr>
            <a:r>
              <a:rPr lang="en-US" sz="900" b="1" kern="0" spc="300" dirty="0">
                <a:solidFill>
                  <a:schemeClr val="bg1"/>
                </a:solidFill>
              </a:rPr>
              <a:t>WHAT HAPPENED</a:t>
            </a:r>
            <a:endParaRPr lang="en-US" sz="900" b="1" dirty="0">
              <a:solidFill>
                <a:schemeClr val="bg1"/>
              </a:solidFill>
            </a:endParaRPr>
          </a:p>
        </p:txBody>
      </p:sp>
      <p:sp>
        <p:nvSpPr>
          <p:cNvPr id="7" name="Text 5"/>
          <p:cNvSpPr/>
          <p:nvPr/>
        </p:nvSpPr>
        <p:spPr>
          <a:xfrm>
            <a:off x="548640" y="1664208"/>
            <a:ext cx="5029200" cy="1828800"/>
          </a:xfrm>
          <a:prstGeom prst="rect">
            <a:avLst/>
          </a:prstGeom>
          <a:noFill/>
          <a:ln/>
        </p:spPr>
        <p:txBody>
          <a:bodyPr wrap="square" lIns="0" tIns="0" rIns="0" bIns="0" rtlCol="0" anchor="ctr"/>
          <a:lstStyle/>
          <a:p>
            <a:pPr marL="0" indent="0">
              <a:buNone/>
            </a:pPr>
            <a:r>
              <a:rPr lang="en-US" sz="1000" b="1" dirty="0">
                <a:solidFill>
                  <a:schemeClr val="bg1"/>
                </a:solidFill>
                <a:latin typeface="Arial" pitchFamily="34" charset="0"/>
                <a:ea typeface="Arial" pitchFamily="34" charset="-122"/>
                <a:cs typeface="Arial" pitchFamily="34" charset="-120"/>
              </a:rPr>
              <a:t>In May 2020, Rio Tinto blasted the Juukan Gorge caves in Western Australia's Pilbara region to expand an iron ore mine. The site had been continuously occupied by the Puutu Kunti Kurrama and Pinikura (PKKP) Aboriginal people for over 46,000 years — making it one of the oldest known sacred sites in Australia.</a:t>
            </a:r>
            <a:endParaRPr lang="en-US" sz="1000" b="1" dirty="0">
              <a:solidFill>
                <a:schemeClr val="bg1"/>
              </a:solidFill>
            </a:endParaRPr>
          </a:p>
          <a:p>
            <a:pPr marL="0" indent="0">
              <a:buNone/>
            </a:pPr>
            <a:endParaRPr lang="en-US" sz="1000" b="1" dirty="0">
              <a:solidFill>
                <a:schemeClr val="bg1"/>
              </a:solidFill>
            </a:endParaRPr>
          </a:p>
          <a:p>
            <a:pPr marL="0" indent="0">
              <a:buNone/>
            </a:pPr>
            <a:r>
              <a:rPr lang="en-US" sz="1000" b="1" dirty="0">
                <a:solidFill>
                  <a:schemeClr val="bg1"/>
                </a:solidFill>
                <a:latin typeface="Arial" pitchFamily="34" charset="0"/>
                <a:ea typeface="Arial" pitchFamily="34" charset="-122"/>
                <a:cs typeface="Arial" pitchFamily="34" charset="-120"/>
              </a:rPr>
              <a:t>Despite prior warnings from Aboriginal custodians, Rio Tinto proceeded under a 2013 legal exemption. The CEO, chief executive of iron ore, and head of corporate relations subsequently resigned. A joint parliamentary inquiry found systemic failures in due diligence, consultation and respect for Indigenous heritage.</a:t>
            </a:r>
            <a:endParaRPr lang="en-US" sz="1000" b="1" dirty="0">
              <a:solidFill>
                <a:schemeClr val="bg1"/>
              </a:solidFill>
            </a:endParaRPr>
          </a:p>
        </p:txBody>
      </p:sp>
      <p:sp>
        <p:nvSpPr>
          <p:cNvPr id="8" name="Shape 6"/>
          <p:cNvSpPr/>
          <p:nvPr/>
        </p:nvSpPr>
        <p:spPr>
          <a:xfrm>
            <a:off x="5961888" y="1280160"/>
            <a:ext cx="2999232" cy="2331720"/>
          </a:xfrm>
          <a:prstGeom prst="rect">
            <a:avLst/>
          </a:prstGeom>
          <a:solidFill>
            <a:srgbClr val="1A2C1A"/>
          </a:solidFill>
          <a:ln w="19050">
            <a:solidFill>
              <a:srgbClr val="1E8449"/>
            </a:solidFill>
            <a:prstDash val="solid"/>
          </a:ln>
          <a:effectLst>
            <a:outerShdw blurRad="63500" dist="25400" dir="8100000" algn="bl" rotWithShape="0">
              <a:srgbClr val="000000">
                <a:alpha val="12000"/>
              </a:srgbClr>
            </a:outerShdw>
          </a:effectLst>
        </p:spPr>
      </p:sp>
      <p:sp>
        <p:nvSpPr>
          <p:cNvPr id="9" name="Text 7"/>
          <p:cNvSpPr/>
          <p:nvPr/>
        </p:nvSpPr>
        <p:spPr>
          <a:xfrm>
            <a:off x="6053328" y="1371600"/>
            <a:ext cx="2816352" cy="274320"/>
          </a:xfrm>
          <a:prstGeom prst="rect">
            <a:avLst/>
          </a:prstGeom>
          <a:noFill/>
          <a:ln/>
        </p:spPr>
        <p:txBody>
          <a:bodyPr wrap="square" lIns="0" tIns="0" rIns="0" bIns="0" rtlCol="0" anchor="ctr"/>
          <a:lstStyle/>
          <a:p>
            <a:pPr marL="0" indent="0">
              <a:buNone/>
            </a:pPr>
            <a:r>
              <a:rPr lang="en-US" sz="900" b="1" kern="0" spc="200" dirty="0">
                <a:solidFill>
                  <a:schemeClr val="bg1"/>
                </a:solidFill>
              </a:rPr>
              <a:t>IMPACT ON ESG SCORE</a:t>
            </a:r>
            <a:endParaRPr lang="en-US" sz="900" b="1" dirty="0">
              <a:solidFill>
                <a:schemeClr val="bg1"/>
              </a:solidFill>
            </a:endParaRPr>
          </a:p>
        </p:txBody>
      </p:sp>
      <p:sp>
        <p:nvSpPr>
          <p:cNvPr id="10" name="Text 8"/>
          <p:cNvSpPr/>
          <p:nvPr/>
        </p:nvSpPr>
        <p:spPr>
          <a:xfrm>
            <a:off x="6053328" y="1719072"/>
            <a:ext cx="914400" cy="201168"/>
          </a:xfrm>
          <a:prstGeom prst="rect">
            <a:avLst/>
          </a:prstGeom>
          <a:noFill/>
          <a:ln/>
        </p:spPr>
        <p:txBody>
          <a:bodyPr wrap="square" lIns="0" tIns="0" rIns="0" bIns="0" rtlCol="0" anchor="ctr"/>
          <a:lstStyle/>
          <a:p>
            <a:pPr marL="0" indent="0">
              <a:buNone/>
            </a:pPr>
            <a:r>
              <a:rPr lang="en-US" sz="900" b="1" dirty="0">
                <a:solidFill>
                  <a:schemeClr val="bg1"/>
                </a:solidFill>
              </a:rPr>
              <a:t>Social:</a:t>
            </a:r>
          </a:p>
        </p:txBody>
      </p:sp>
      <p:sp>
        <p:nvSpPr>
          <p:cNvPr id="11" name="Text 9"/>
          <p:cNvSpPr/>
          <p:nvPr/>
        </p:nvSpPr>
        <p:spPr>
          <a:xfrm>
            <a:off x="6053328" y="1929384"/>
            <a:ext cx="2816352" cy="237744"/>
          </a:xfrm>
          <a:prstGeom prst="rect">
            <a:avLst/>
          </a:prstGeom>
          <a:noFill/>
          <a:ln/>
        </p:spPr>
        <p:txBody>
          <a:bodyPr wrap="square" lIns="0" tIns="0" rIns="0" bIns="0" rtlCol="0" anchor="ctr"/>
          <a:lstStyle/>
          <a:p>
            <a:pPr marL="0" indent="0">
              <a:buNone/>
            </a:pPr>
            <a:r>
              <a:rPr lang="en-US" sz="850" b="1" dirty="0">
                <a:solidFill>
                  <a:schemeClr val="bg1"/>
                </a:solidFill>
                <a:latin typeface="Arial" pitchFamily="34" charset="0"/>
                <a:ea typeface="Arial" pitchFamily="34" charset="-122"/>
                <a:cs typeface="Arial" pitchFamily="34" charset="-120"/>
              </a:rPr>
              <a:t>Severely damaged social licence &amp; Indigenous relations</a:t>
            </a:r>
            <a:endParaRPr lang="en-US" sz="850" b="1" dirty="0">
              <a:solidFill>
                <a:schemeClr val="bg1"/>
              </a:solidFill>
            </a:endParaRPr>
          </a:p>
        </p:txBody>
      </p:sp>
      <p:sp>
        <p:nvSpPr>
          <p:cNvPr id="12" name="Text 10"/>
          <p:cNvSpPr/>
          <p:nvPr/>
        </p:nvSpPr>
        <p:spPr>
          <a:xfrm>
            <a:off x="6053328" y="2176272"/>
            <a:ext cx="914400" cy="201168"/>
          </a:xfrm>
          <a:prstGeom prst="rect">
            <a:avLst/>
          </a:prstGeom>
          <a:noFill/>
          <a:ln/>
        </p:spPr>
        <p:txBody>
          <a:bodyPr wrap="square" lIns="0" tIns="0" rIns="0" bIns="0" rtlCol="0" anchor="ctr"/>
          <a:lstStyle/>
          <a:p>
            <a:pPr marL="0" indent="0">
              <a:buNone/>
            </a:pPr>
            <a:r>
              <a:rPr lang="en-US" sz="900" b="1" dirty="0">
                <a:solidFill>
                  <a:schemeClr val="bg1"/>
                </a:solidFill>
              </a:rPr>
              <a:t>Governance:</a:t>
            </a:r>
          </a:p>
        </p:txBody>
      </p:sp>
      <p:sp>
        <p:nvSpPr>
          <p:cNvPr id="13" name="Text 11"/>
          <p:cNvSpPr/>
          <p:nvPr/>
        </p:nvSpPr>
        <p:spPr>
          <a:xfrm>
            <a:off x="6053328" y="2386584"/>
            <a:ext cx="2816352" cy="237744"/>
          </a:xfrm>
          <a:prstGeom prst="rect">
            <a:avLst/>
          </a:prstGeom>
          <a:noFill/>
          <a:ln/>
        </p:spPr>
        <p:txBody>
          <a:bodyPr wrap="square" lIns="0" tIns="0" rIns="0" bIns="0" rtlCol="0" anchor="ctr"/>
          <a:lstStyle/>
          <a:p>
            <a:pPr marL="0" indent="0">
              <a:buNone/>
            </a:pPr>
            <a:r>
              <a:rPr lang="en-US" sz="850" b="1" dirty="0">
                <a:solidFill>
                  <a:schemeClr val="bg1"/>
                </a:solidFill>
                <a:latin typeface="Arial" pitchFamily="34" charset="0"/>
                <a:ea typeface="Arial" pitchFamily="34" charset="-122"/>
                <a:cs typeface="Arial" pitchFamily="34" charset="-120"/>
              </a:rPr>
              <a:t>Exposed board oversight failures in heritage risk mgmt</a:t>
            </a:r>
            <a:endParaRPr lang="en-US" sz="850" b="1" dirty="0">
              <a:solidFill>
                <a:schemeClr val="bg1"/>
              </a:solidFill>
            </a:endParaRPr>
          </a:p>
        </p:txBody>
      </p:sp>
      <p:sp>
        <p:nvSpPr>
          <p:cNvPr id="14" name="Text 12"/>
          <p:cNvSpPr/>
          <p:nvPr/>
        </p:nvSpPr>
        <p:spPr>
          <a:xfrm>
            <a:off x="6053328" y="2633472"/>
            <a:ext cx="914400" cy="201168"/>
          </a:xfrm>
          <a:prstGeom prst="rect">
            <a:avLst/>
          </a:prstGeom>
          <a:noFill/>
          <a:ln/>
        </p:spPr>
        <p:txBody>
          <a:bodyPr wrap="square" lIns="0" tIns="0" rIns="0" bIns="0" rtlCol="0" anchor="ctr"/>
          <a:lstStyle/>
          <a:p>
            <a:pPr marL="0" indent="0">
              <a:buNone/>
            </a:pPr>
            <a:r>
              <a:rPr lang="en-US" sz="900" b="1" dirty="0">
                <a:solidFill>
                  <a:schemeClr val="bg1"/>
                </a:solidFill>
              </a:rPr>
              <a:t>Env.:</a:t>
            </a:r>
          </a:p>
        </p:txBody>
      </p:sp>
      <p:sp>
        <p:nvSpPr>
          <p:cNvPr id="15" name="Text 13"/>
          <p:cNvSpPr/>
          <p:nvPr/>
        </p:nvSpPr>
        <p:spPr>
          <a:xfrm>
            <a:off x="6053328" y="2843784"/>
            <a:ext cx="2816352" cy="237744"/>
          </a:xfrm>
          <a:prstGeom prst="rect">
            <a:avLst/>
          </a:prstGeom>
          <a:noFill/>
          <a:ln/>
        </p:spPr>
        <p:txBody>
          <a:bodyPr wrap="square" lIns="0" tIns="0" rIns="0" bIns="0" rtlCol="0" anchor="ctr"/>
          <a:lstStyle/>
          <a:p>
            <a:pPr marL="0" indent="0">
              <a:buNone/>
            </a:pPr>
            <a:r>
              <a:rPr lang="en-US" sz="850" b="1" dirty="0">
                <a:solidFill>
                  <a:schemeClr val="bg1"/>
                </a:solidFill>
                <a:latin typeface="Arial" pitchFamily="34" charset="0"/>
                <a:ea typeface="Arial" pitchFamily="34" charset="-122"/>
                <a:cs typeface="Arial" pitchFamily="34" charset="-120"/>
              </a:rPr>
              <a:t>Irreversible destruction of a 46,000-yr old ecosystem</a:t>
            </a:r>
            <a:endParaRPr lang="en-US" sz="850" b="1" dirty="0">
              <a:solidFill>
                <a:schemeClr val="bg1"/>
              </a:solidFill>
            </a:endParaRPr>
          </a:p>
        </p:txBody>
      </p:sp>
      <p:sp>
        <p:nvSpPr>
          <p:cNvPr id="16" name="Text 14"/>
          <p:cNvSpPr/>
          <p:nvPr/>
        </p:nvSpPr>
        <p:spPr>
          <a:xfrm>
            <a:off x="6053328" y="3090672"/>
            <a:ext cx="914400" cy="201168"/>
          </a:xfrm>
          <a:prstGeom prst="rect">
            <a:avLst/>
          </a:prstGeom>
          <a:noFill/>
          <a:ln/>
        </p:spPr>
        <p:txBody>
          <a:bodyPr wrap="square" lIns="0" tIns="0" rIns="0" bIns="0" rtlCol="0" anchor="ctr"/>
          <a:lstStyle/>
          <a:p>
            <a:pPr marL="0" indent="0">
              <a:buNone/>
            </a:pPr>
            <a:r>
              <a:rPr lang="en-US" sz="900" b="1" dirty="0">
                <a:solidFill>
                  <a:schemeClr val="bg1"/>
                </a:solidFill>
              </a:rPr>
              <a:t>Score Adj.:</a:t>
            </a:r>
          </a:p>
        </p:txBody>
      </p:sp>
      <p:sp>
        <p:nvSpPr>
          <p:cNvPr id="17" name="Text 15"/>
          <p:cNvSpPr/>
          <p:nvPr/>
        </p:nvSpPr>
        <p:spPr>
          <a:xfrm>
            <a:off x="6053328" y="3300984"/>
            <a:ext cx="2816352" cy="237744"/>
          </a:xfrm>
          <a:prstGeom prst="rect">
            <a:avLst/>
          </a:prstGeom>
          <a:noFill/>
          <a:ln/>
        </p:spPr>
        <p:txBody>
          <a:bodyPr wrap="square" lIns="0" tIns="0" rIns="0" bIns="0" rtlCol="0" anchor="ctr"/>
          <a:lstStyle/>
          <a:p>
            <a:pPr marL="0" indent="0">
              <a:buNone/>
            </a:pPr>
            <a:r>
              <a:rPr lang="en-US" sz="850" b="1" dirty="0">
                <a:solidFill>
                  <a:schemeClr val="bg1"/>
                </a:solidFill>
                <a:latin typeface="Arial" pitchFamily="34" charset="0"/>
                <a:ea typeface="Arial" pitchFamily="34" charset="-122"/>
                <a:cs typeface="Arial" pitchFamily="34" charset="-120"/>
              </a:rPr>
              <a:t>0 — Historical (2020); reformed protocols now in place</a:t>
            </a:r>
            <a:endParaRPr lang="en-US" sz="850" b="1" dirty="0">
              <a:solidFill>
                <a:schemeClr val="bg1"/>
              </a:solidFill>
            </a:endParaRPr>
          </a:p>
        </p:txBody>
      </p:sp>
      <p:sp>
        <p:nvSpPr>
          <p:cNvPr id="18" name="Shape 16"/>
          <p:cNvSpPr/>
          <p:nvPr/>
        </p:nvSpPr>
        <p:spPr>
          <a:xfrm>
            <a:off x="365760" y="3749040"/>
            <a:ext cx="8549640" cy="1005840"/>
          </a:xfrm>
          <a:prstGeom prst="rect">
            <a:avLst/>
          </a:prstGeom>
          <a:solidFill>
            <a:srgbClr val="117A65"/>
          </a:solidFill>
          <a:ln w="12700">
            <a:solidFill>
              <a:srgbClr val="117A65"/>
            </a:solidFill>
            <a:prstDash val="solid"/>
          </a:ln>
          <a:effectLst>
            <a:outerShdw blurRad="63500" dist="25400" dir="8100000" algn="bl" rotWithShape="0">
              <a:srgbClr val="000000">
                <a:alpha val="12000"/>
              </a:srgbClr>
            </a:outerShdw>
          </a:effectLst>
        </p:spPr>
      </p:sp>
      <p:sp>
        <p:nvSpPr>
          <p:cNvPr id="19" name="Text 17"/>
          <p:cNvSpPr/>
          <p:nvPr/>
        </p:nvSpPr>
        <p:spPr>
          <a:xfrm>
            <a:off x="548640" y="3803904"/>
            <a:ext cx="8046720" cy="256032"/>
          </a:xfrm>
          <a:prstGeom prst="rect">
            <a:avLst/>
          </a:prstGeom>
          <a:noFill/>
          <a:ln/>
        </p:spPr>
        <p:txBody>
          <a:bodyPr wrap="square" lIns="0" tIns="0" rIns="0" bIns="0" rtlCol="0" anchor="ctr"/>
          <a:lstStyle/>
          <a:p>
            <a:pPr marL="0" indent="0">
              <a:buNone/>
            </a:pPr>
            <a:r>
              <a:rPr lang="en-US" sz="950" b="1" kern="0" spc="300" dirty="0">
                <a:solidFill>
                  <a:schemeClr val="bg1"/>
                </a:solidFill>
              </a:rPr>
              <a:t>HOW RIO TINTO RESPONDED</a:t>
            </a:r>
            <a:endParaRPr lang="en-US" sz="950" b="1" dirty="0">
              <a:solidFill>
                <a:schemeClr val="bg1"/>
              </a:solidFill>
            </a:endParaRPr>
          </a:p>
        </p:txBody>
      </p:sp>
      <p:sp>
        <p:nvSpPr>
          <p:cNvPr id="20" name="Text 18"/>
          <p:cNvSpPr/>
          <p:nvPr/>
        </p:nvSpPr>
        <p:spPr>
          <a:xfrm>
            <a:off x="548640" y="4078224"/>
            <a:ext cx="8321040" cy="621792"/>
          </a:xfrm>
          <a:prstGeom prst="rect">
            <a:avLst/>
          </a:prstGeom>
          <a:noFill/>
          <a:ln/>
        </p:spPr>
        <p:txBody>
          <a:bodyPr wrap="square" lIns="0" tIns="0" rIns="0" bIns="0" rtlCol="0" anchor="ctr"/>
          <a:lstStyle/>
          <a:p>
            <a:pPr marL="0" indent="0">
              <a:buNone/>
            </a:pPr>
            <a:r>
              <a:rPr lang="en-US" sz="950" b="1" dirty="0">
                <a:solidFill>
                  <a:schemeClr val="bg1"/>
                </a:solidFill>
                <a:latin typeface="Arial" pitchFamily="34" charset="0"/>
                <a:ea typeface="Arial" pitchFamily="34" charset="-122"/>
                <a:cs typeface="Arial" pitchFamily="34" charset="-120"/>
              </a:rPr>
              <a:t>Three senior executives resigned, including CEO J-S Jacques. Reforms included mandatory free, prior and informed consent (FPIC), stronger Heritage Management Agreements, new Indigenous partnership model. First Indigenous renewable energy partnerships: Yindjibarndi Energy Corp (75MW Jinbi Solar) and Ngarluma Aboriginal Corp (80MW Karratha Solar) now embedded in 2025 CAP.</a:t>
            </a:r>
            <a:endParaRPr lang="en-US" sz="950" b="1" dirty="0">
              <a:solidFill>
                <a:schemeClr val="bg1"/>
              </a:solidFill>
            </a:endParaRPr>
          </a:p>
        </p:txBody>
      </p:sp>
      <p:sp>
        <p:nvSpPr>
          <p:cNvPr id="21" name="Text 19"/>
          <p:cNvSpPr/>
          <p:nvPr/>
        </p:nvSpPr>
        <p:spPr>
          <a:xfrm>
            <a:off x="365760" y="4956048"/>
            <a:ext cx="8503920" cy="164592"/>
          </a:xfrm>
          <a:prstGeom prst="rect">
            <a:avLst/>
          </a:prstGeom>
          <a:noFill/>
          <a:ln/>
        </p:spPr>
        <p:txBody>
          <a:bodyPr wrap="square" lIns="0" tIns="0" rIns="0" bIns="0" rtlCol="0" anchor="ctr"/>
          <a:lstStyle/>
          <a:p>
            <a:pPr marL="0" indent="0">
              <a:buNone/>
            </a:pPr>
            <a:r>
              <a:rPr lang="en-US" sz="700" b="1" i="1" dirty="0">
                <a:solidFill>
                  <a:schemeClr val="bg1"/>
                </a:solidFill>
              </a:rPr>
              <a:t>Source: Parliamentary Inquiry Report (2020) | 2025 CAP p.64 | Yindjibarndi Energy Corporation PPA (2025)</a:t>
            </a:r>
            <a:endParaRPr lang="en-US" sz="700" b="1" dirty="0">
              <a:solidFill>
                <a:schemeClr val="bg1"/>
              </a:solidFill>
            </a:endParaRPr>
          </a:p>
        </p:txBody>
      </p:sp>
      <p:sp>
        <p:nvSpPr>
          <p:cNvPr id="22" name="Text 20"/>
          <p:cNvSpPr/>
          <p:nvPr/>
        </p:nvSpPr>
        <p:spPr>
          <a:xfrm>
            <a:off x="8778240" y="4956048"/>
            <a:ext cx="320040" cy="164592"/>
          </a:xfrm>
          <a:prstGeom prst="rect">
            <a:avLst/>
          </a:prstGeom>
          <a:noFill/>
          <a:ln/>
        </p:spPr>
        <p:txBody>
          <a:bodyPr wrap="square" lIns="0" tIns="0" rIns="0" bIns="0" rtlCol="0" anchor="ctr"/>
          <a:lstStyle/>
          <a:p>
            <a:pPr marL="0" indent="0" algn="r">
              <a:buNone/>
            </a:pPr>
            <a:r>
              <a:rPr lang="en-US" sz="700" b="1" dirty="0">
                <a:solidFill>
                  <a:schemeClr val="bg1"/>
                </a:solidFill>
              </a:rPr>
              <a:t>3 / 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0"/>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8449"/>
          </a:solidFill>
          <a:ln w="12700">
            <a:solidFill>
              <a:srgbClr val="1E8449"/>
            </a:solidFill>
            <a:prstDash val="solid"/>
          </a:ln>
        </p:spPr>
      </p:sp>
      <p:sp>
        <p:nvSpPr>
          <p:cNvPr id="3" name="Text 1"/>
          <p:cNvSpPr/>
          <p:nvPr/>
        </p:nvSpPr>
        <p:spPr>
          <a:xfrm>
            <a:off x="274320" y="73152"/>
            <a:ext cx="822960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Black" pitchFamily="34" charset="0"/>
                <a:ea typeface="Arial Black" pitchFamily="34" charset="-122"/>
                <a:cs typeface="Arial Black" pitchFamily="34" charset="-120"/>
              </a:rPr>
              <a:t>★  THE X-FACTOR IN ESG</a:t>
            </a:r>
            <a:endParaRPr lang="en-US" sz="2000" dirty="0"/>
          </a:p>
        </p:txBody>
      </p:sp>
      <p:sp>
        <p:nvSpPr>
          <p:cNvPr id="4" name="Text 2"/>
          <p:cNvSpPr/>
          <p:nvPr/>
        </p:nvSpPr>
        <p:spPr>
          <a:xfrm>
            <a:off x="274320" y="493776"/>
            <a:ext cx="8229600" cy="274320"/>
          </a:xfrm>
          <a:prstGeom prst="rect">
            <a:avLst/>
          </a:prstGeom>
          <a:noFill/>
          <a:ln/>
        </p:spPr>
        <p:txBody>
          <a:bodyPr wrap="square" lIns="0" tIns="0" rIns="0" bIns="0" rtlCol="0" anchor="ctr"/>
          <a:lstStyle/>
          <a:p>
            <a:pPr marL="0" indent="0">
              <a:buNone/>
            </a:pPr>
            <a:r>
              <a:rPr lang="en-US" sz="1050" dirty="0">
                <a:solidFill>
                  <a:srgbClr val="D5F5E3"/>
                </a:solidFill>
                <a:latin typeface="Arial" pitchFamily="34" charset="0"/>
                <a:ea typeface="Arial" pitchFamily="34" charset="-122"/>
                <a:cs typeface="Arial" pitchFamily="34" charset="-120"/>
              </a:rPr>
              <a:t>What makes Rio Tinto distinctively ambitious — and challenged — in ESG terms</a:t>
            </a:r>
            <a:endParaRPr lang="en-US" sz="1050" dirty="0"/>
          </a:p>
        </p:txBody>
      </p:sp>
      <p:sp>
        <p:nvSpPr>
          <p:cNvPr id="5" name="Shape 3"/>
          <p:cNvSpPr/>
          <p:nvPr/>
        </p:nvSpPr>
        <p:spPr>
          <a:xfrm>
            <a:off x="228600" y="1051560"/>
            <a:ext cx="4206240" cy="347472"/>
          </a:xfrm>
          <a:prstGeom prst="rect">
            <a:avLst/>
          </a:prstGeom>
          <a:solidFill>
            <a:srgbClr val="1E8449"/>
          </a:solidFill>
          <a:ln w="12700">
            <a:solidFill>
              <a:srgbClr val="1E8449"/>
            </a:solidFill>
            <a:prstDash val="solid"/>
          </a:ln>
        </p:spPr>
      </p:sp>
      <p:sp>
        <p:nvSpPr>
          <p:cNvPr id="6" name="Text 4"/>
          <p:cNvSpPr/>
          <p:nvPr/>
        </p:nvSpPr>
        <p:spPr>
          <a:xfrm>
            <a:off x="320040" y="1088136"/>
            <a:ext cx="4023360" cy="256032"/>
          </a:xfrm>
          <a:prstGeom prst="rect">
            <a:avLst/>
          </a:prstGeom>
          <a:noFill/>
          <a:ln/>
        </p:spPr>
        <p:txBody>
          <a:bodyPr wrap="square" lIns="0" tIns="0" rIns="0" bIns="0" rtlCol="0" anchor="ctr"/>
          <a:lstStyle/>
          <a:p>
            <a:pPr marL="0" indent="0">
              <a:buNone/>
            </a:pPr>
            <a:r>
              <a:rPr lang="en-US" sz="950" b="1" kern="0" spc="200" dirty="0">
                <a:solidFill>
                  <a:srgbClr val="FFFFFF"/>
                </a:solidFill>
              </a:rPr>
              <a:t>DISTINCTIVE ESG STRENGTHS</a:t>
            </a:r>
            <a:endParaRPr lang="en-US" sz="950" dirty="0"/>
          </a:p>
        </p:txBody>
      </p:sp>
      <p:sp>
        <p:nvSpPr>
          <p:cNvPr id="7" name="Shape 5"/>
          <p:cNvSpPr/>
          <p:nvPr/>
        </p:nvSpPr>
        <p:spPr>
          <a:xfrm>
            <a:off x="228600" y="1508760"/>
            <a:ext cx="4206240" cy="749808"/>
          </a:xfrm>
          <a:prstGeom prst="rect">
            <a:avLst/>
          </a:prstGeom>
          <a:solidFill>
            <a:srgbClr val="FFFFFF"/>
          </a:solidFill>
          <a:ln w="12700">
            <a:solidFill>
              <a:srgbClr val="1E8449"/>
            </a:solidFill>
            <a:prstDash val="solid"/>
          </a:ln>
          <a:effectLst>
            <a:outerShdw blurRad="63500" dist="25400" dir="8100000" algn="bl" rotWithShape="0">
              <a:srgbClr val="000000">
                <a:alpha val="12000"/>
              </a:srgbClr>
            </a:outerShdw>
          </a:effectLst>
        </p:spPr>
      </p:sp>
      <p:sp>
        <p:nvSpPr>
          <p:cNvPr id="8" name="Shape 6"/>
          <p:cNvSpPr/>
          <p:nvPr/>
        </p:nvSpPr>
        <p:spPr>
          <a:xfrm>
            <a:off x="228600" y="1508760"/>
            <a:ext cx="73152" cy="749808"/>
          </a:xfrm>
          <a:prstGeom prst="rect">
            <a:avLst/>
          </a:prstGeom>
          <a:solidFill>
            <a:srgbClr val="1E8449"/>
          </a:solidFill>
          <a:ln w="12700">
            <a:solidFill>
              <a:srgbClr val="1E8449"/>
            </a:solidFill>
            <a:prstDash val="solid"/>
          </a:ln>
        </p:spPr>
      </p:sp>
      <p:sp>
        <p:nvSpPr>
          <p:cNvPr id="9" name="Text 7"/>
          <p:cNvSpPr/>
          <p:nvPr/>
        </p:nvSpPr>
        <p:spPr>
          <a:xfrm>
            <a:off x="384048" y="1554480"/>
            <a:ext cx="3931920" cy="201168"/>
          </a:xfrm>
          <a:prstGeom prst="rect">
            <a:avLst/>
          </a:prstGeom>
          <a:noFill/>
          <a:ln/>
        </p:spPr>
        <p:txBody>
          <a:bodyPr wrap="square" lIns="0" tIns="0" rIns="0" bIns="0" rtlCol="0" anchor="ctr"/>
          <a:lstStyle/>
          <a:p>
            <a:pPr marL="0" indent="0">
              <a:buNone/>
            </a:pPr>
            <a:r>
              <a:rPr lang="en-US" sz="1000" b="1" dirty="0">
                <a:solidFill>
                  <a:srgbClr val="1E8449"/>
                </a:solidFill>
                <a:latin typeface="Arial" pitchFamily="34" charset="0"/>
                <a:ea typeface="Arial" pitchFamily="34" charset="-122"/>
                <a:cs typeface="Arial" pitchFamily="34" charset="-120"/>
              </a:rPr>
              <a:t>Scope 3 Leadership</a:t>
            </a:r>
            <a:endParaRPr lang="en-US" sz="1000" dirty="0"/>
          </a:p>
        </p:txBody>
      </p:sp>
      <p:sp>
        <p:nvSpPr>
          <p:cNvPr id="10" name="Text 8"/>
          <p:cNvSpPr/>
          <p:nvPr/>
        </p:nvSpPr>
        <p:spPr>
          <a:xfrm>
            <a:off x="384048" y="176479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Total value-chain emissions of 606.4 Mt CO₂e fully quantified and publicly disclosed — one of the most detailed Scope 3 inventories in mining. 12-product iron-ore steelmaking mass-balance model. (Emissions Methodology 2024, p.9-10)</a:t>
            </a:r>
            <a:endParaRPr lang="en-US" sz="800" dirty="0"/>
          </a:p>
        </p:txBody>
      </p:sp>
      <p:sp>
        <p:nvSpPr>
          <p:cNvPr id="11" name="Shape 9"/>
          <p:cNvSpPr/>
          <p:nvPr/>
        </p:nvSpPr>
        <p:spPr>
          <a:xfrm>
            <a:off x="228600" y="2331720"/>
            <a:ext cx="4206240" cy="749808"/>
          </a:xfrm>
          <a:prstGeom prst="rect">
            <a:avLst/>
          </a:prstGeom>
          <a:solidFill>
            <a:srgbClr val="FFFFFF"/>
          </a:solidFill>
          <a:ln w="12700">
            <a:solidFill>
              <a:srgbClr val="1E8449"/>
            </a:solidFill>
            <a:prstDash val="solid"/>
          </a:ln>
          <a:effectLst>
            <a:outerShdw blurRad="63500" dist="25400" dir="8100000" algn="bl" rotWithShape="0">
              <a:srgbClr val="000000">
                <a:alpha val="12000"/>
              </a:srgbClr>
            </a:outerShdw>
          </a:effectLst>
        </p:spPr>
      </p:sp>
      <p:sp>
        <p:nvSpPr>
          <p:cNvPr id="12" name="Shape 10"/>
          <p:cNvSpPr/>
          <p:nvPr/>
        </p:nvSpPr>
        <p:spPr>
          <a:xfrm>
            <a:off x="228600" y="2331720"/>
            <a:ext cx="73152" cy="749808"/>
          </a:xfrm>
          <a:prstGeom prst="rect">
            <a:avLst/>
          </a:prstGeom>
          <a:solidFill>
            <a:srgbClr val="1E8449"/>
          </a:solidFill>
          <a:ln w="12700">
            <a:solidFill>
              <a:srgbClr val="1E8449"/>
            </a:solidFill>
            <a:prstDash val="solid"/>
          </a:ln>
        </p:spPr>
      </p:sp>
      <p:sp>
        <p:nvSpPr>
          <p:cNvPr id="13" name="Text 11"/>
          <p:cNvSpPr/>
          <p:nvPr/>
        </p:nvSpPr>
        <p:spPr>
          <a:xfrm>
            <a:off x="384048" y="2377440"/>
            <a:ext cx="3931920" cy="201168"/>
          </a:xfrm>
          <a:prstGeom prst="rect">
            <a:avLst/>
          </a:prstGeom>
          <a:noFill/>
          <a:ln/>
        </p:spPr>
        <p:txBody>
          <a:bodyPr wrap="square" lIns="0" tIns="0" rIns="0" bIns="0" rtlCol="0" anchor="ctr"/>
          <a:lstStyle/>
          <a:p>
            <a:pPr marL="0" indent="0">
              <a:buNone/>
            </a:pPr>
            <a:r>
              <a:rPr lang="en-US" sz="1000" b="1" dirty="0">
                <a:solidFill>
                  <a:srgbClr val="1E8449"/>
                </a:solidFill>
                <a:latin typeface="Arial" pitchFamily="34" charset="0"/>
                <a:ea typeface="Arial" pitchFamily="34" charset="-122"/>
                <a:cs typeface="Arial" pitchFamily="34" charset="-120"/>
              </a:rPr>
              <a:t>ISSB S2 Pioneer</a:t>
            </a:r>
            <a:endParaRPr lang="en-US" sz="1000" dirty="0"/>
          </a:p>
        </p:txBody>
      </p:sp>
      <p:sp>
        <p:nvSpPr>
          <p:cNvPr id="14" name="Text 12"/>
          <p:cNvSpPr/>
          <p:nvPr/>
        </p:nvSpPr>
        <p:spPr>
          <a:xfrm>
            <a:off x="384048" y="258775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First major miner to fully integrate ISSB IFRS S2 climate disclosures into Annual Report 2024. Directors' declaration under Australian Corporations Act 2001. (Annual Report 2025, p.71)</a:t>
            </a:r>
            <a:endParaRPr lang="en-US" sz="800" dirty="0"/>
          </a:p>
        </p:txBody>
      </p:sp>
      <p:sp>
        <p:nvSpPr>
          <p:cNvPr id="15" name="Shape 13"/>
          <p:cNvSpPr/>
          <p:nvPr/>
        </p:nvSpPr>
        <p:spPr>
          <a:xfrm>
            <a:off x="228600" y="3154680"/>
            <a:ext cx="4206240" cy="749808"/>
          </a:xfrm>
          <a:prstGeom prst="rect">
            <a:avLst/>
          </a:prstGeom>
          <a:solidFill>
            <a:srgbClr val="FFFFFF"/>
          </a:solidFill>
          <a:ln w="12700">
            <a:solidFill>
              <a:srgbClr val="1E8449"/>
            </a:solidFill>
            <a:prstDash val="solid"/>
          </a:ln>
          <a:effectLst>
            <a:outerShdw blurRad="63500" dist="25400" dir="8100000" algn="bl" rotWithShape="0">
              <a:srgbClr val="000000">
                <a:alpha val="12000"/>
              </a:srgbClr>
            </a:outerShdw>
          </a:effectLst>
        </p:spPr>
      </p:sp>
      <p:sp>
        <p:nvSpPr>
          <p:cNvPr id="16" name="Shape 14"/>
          <p:cNvSpPr/>
          <p:nvPr/>
        </p:nvSpPr>
        <p:spPr>
          <a:xfrm>
            <a:off x="228600" y="3154680"/>
            <a:ext cx="73152" cy="749808"/>
          </a:xfrm>
          <a:prstGeom prst="rect">
            <a:avLst/>
          </a:prstGeom>
          <a:solidFill>
            <a:srgbClr val="1E8449"/>
          </a:solidFill>
          <a:ln w="12700">
            <a:solidFill>
              <a:srgbClr val="1E8449"/>
            </a:solidFill>
            <a:prstDash val="solid"/>
          </a:ln>
        </p:spPr>
      </p:sp>
      <p:sp>
        <p:nvSpPr>
          <p:cNvPr id="17" name="Text 15"/>
          <p:cNvSpPr/>
          <p:nvPr/>
        </p:nvSpPr>
        <p:spPr>
          <a:xfrm>
            <a:off x="384048" y="3200400"/>
            <a:ext cx="3931920" cy="201168"/>
          </a:xfrm>
          <a:prstGeom prst="rect">
            <a:avLst/>
          </a:prstGeom>
          <a:noFill/>
          <a:ln/>
        </p:spPr>
        <p:txBody>
          <a:bodyPr wrap="square" lIns="0" tIns="0" rIns="0" bIns="0" rtlCol="0" anchor="ctr"/>
          <a:lstStyle/>
          <a:p>
            <a:pPr marL="0" indent="0">
              <a:buNone/>
            </a:pPr>
            <a:r>
              <a:rPr lang="en-US" sz="1000" b="1" dirty="0">
                <a:solidFill>
                  <a:srgbClr val="1E8449"/>
                </a:solidFill>
                <a:latin typeface="Arial" pitchFamily="34" charset="0"/>
                <a:ea typeface="Arial" pitchFamily="34" charset="-122"/>
                <a:cs typeface="Arial" pitchFamily="34" charset="-120"/>
              </a:rPr>
              <a:t>Nature-Based Solutions</a:t>
            </a:r>
            <a:endParaRPr lang="en-US" sz="1000" dirty="0"/>
          </a:p>
        </p:txBody>
      </p:sp>
      <p:sp>
        <p:nvSpPr>
          <p:cNvPr id="18" name="Text 16"/>
          <p:cNvSpPr/>
          <p:nvPr/>
        </p:nvSpPr>
        <p:spPr>
          <a:xfrm>
            <a:off x="384048" y="341071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500,000 hectares of high-integrity NbS across 5 countries by 2025. Only 15% of assessed projects pass high-integrity criteria — demonstrating quality over quantity. ($70m spend in 2024)</a:t>
            </a:r>
            <a:endParaRPr lang="en-US" sz="800" dirty="0"/>
          </a:p>
        </p:txBody>
      </p:sp>
      <p:sp>
        <p:nvSpPr>
          <p:cNvPr id="19" name="Shape 17"/>
          <p:cNvSpPr/>
          <p:nvPr/>
        </p:nvSpPr>
        <p:spPr>
          <a:xfrm>
            <a:off x="228600" y="3977640"/>
            <a:ext cx="4206240" cy="749808"/>
          </a:xfrm>
          <a:prstGeom prst="rect">
            <a:avLst/>
          </a:prstGeom>
          <a:solidFill>
            <a:srgbClr val="FFFFFF"/>
          </a:solidFill>
          <a:ln w="12700">
            <a:solidFill>
              <a:srgbClr val="1E8449"/>
            </a:solidFill>
            <a:prstDash val="solid"/>
          </a:ln>
          <a:effectLst>
            <a:outerShdw blurRad="63500" dist="25400" dir="8100000" algn="bl" rotWithShape="0">
              <a:srgbClr val="000000">
                <a:alpha val="12000"/>
              </a:srgbClr>
            </a:outerShdw>
          </a:effectLst>
        </p:spPr>
      </p:sp>
      <p:sp>
        <p:nvSpPr>
          <p:cNvPr id="20" name="Shape 18"/>
          <p:cNvSpPr/>
          <p:nvPr/>
        </p:nvSpPr>
        <p:spPr>
          <a:xfrm>
            <a:off x="228600" y="3977640"/>
            <a:ext cx="73152" cy="749808"/>
          </a:xfrm>
          <a:prstGeom prst="rect">
            <a:avLst/>
          </a:prstGeom>
          <a:solidFill>
            <a:srgbClr val="1E8449"/>
          </a:solidFill>
          <a:ln w="12700">
            <a:solidFill>
              <a:srgbClr val="1E8449"/>
            </a:solidFill>
            <a:prstDash val="solid"/>
          </a:ln>
        </p:spPr>
      </p:sp>
      <p:sp>
        <p:nvSpPr>
          <p:cNvPr id="21" name="Text 19"/>
          <p:cNvSpPr/>
          <p:nvPr/>
        </p:nvSpPr>
        <p:spPr>
          <a:xfrm>
            <a:off x="384048" y="4023360"/>
            <a:ext cx="3931920" cy="201168"/>
          </a:xfrm>
          <a:prstGeom prst="rect">
            <a:avLst/>
          </a:prstGeom>
          <a:noFill/>
          <a:ln/>
        </p:spPr>
        <p:txBody>
          <a:bodyPr wrap="square" lIns="0" tIns="0" rIns="0" bIns="0" rtlCol="0" anchor="ctr"/>
          <a:lstStyle/>
          <a:p>
            <a:pPr marL="0" indent="0">
              <a:buNone/>
            </a:pPr>
            <a:r>
              <a:rPr lang="en-US" sz="1000" b="1" dirty="0">
                <a:solidFill>
                  <a:srgbClr val="1E8449"/>
                </a:solidFill>
                <a:latin typeface="Arial" pitchFamily="34" charset="0"/>
                <a:ea typeface="Arial" pitchFamily="34" charset="-122"/>
                <a:cs typeface="Arial" pitchFamily="34" charset="-120"/>
              </a:rPr>
              <a:t>Renewable Electricity</a:t>
            </a:r>
            <a:endParaRPr lang="en-US" sz="1000" dirty="0"/>
          </a:p>
        </p:txBody>
      </p:sp>
      <p:sp>
        <p:nvSpPr>
          <p:cNvPr id="22" name="Text 20"/>
          <p:cNvSpPr/>
          <p:nvPr/>
        </p:nvSpPr>
        <p:spPr>
          <a:xfrm>
            <a:off x="384048" y="423367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78% renewable electricity in 2024 (target &gt;90% by 2030). Major PPAS: 2.7 GW for Boyne Smelter in QLD alone. Proprietary hydro power in Quebec serves aluminium operations.</a:t>
            </a:r>
            <a:endParaRPr lang="en-US" sz="800" dirty="0"/>
          </a:p>
        </p:txBody>
      </p:sp>
      <p:sp>
        <p:nvSpPr>
          <p:cNvPr id="23" name="Shape 21"/>
          <p:cNvSpPr/>
          <p:nvPr/>
        </p:nvSpPr>
        <p:spPr>
          <a:xfrm>
            <a:off x="4709160" y="1051560"/>
            <a:ext cx="4206240" cy="347472"/>
          </a:xfrm>
          <a:prstGeom prst="rect">
            <a:avLst/>
          </a:prstGeom>
          <a:solidFill>
            <a:srgbClr val="C0392B"/>
          </a:solidFill>
          <a:ln w="12700">
            <a:solidFill>
              <a:srgbClr val="C0392B"/>
            </a:solidFill>
            <a:prstDash val="solid"/>
          </a:ln>
        </p:spPr>
      </p:sp>
      <p:sp>
        <p:nvSpPr>
          <p:cNvPr id="24" name="Text 22"/>
          <p:cNvSpPr/>
          <p:nvPr/>
        </p:nvSpPr>
        <p:spPr>
          <a:xfrm>
            <a:off x="4800600" y="1088136"/>
            <a:ext cx="4023360" cy="256032"/>
          </a:xfrm>
          <a:prstGeom prst="rect">
            <a:avLst/>
          </a:prstGeom>
          <a:noFill/>
          <a:ln/>
        </p:spPr>
        <p:txBody>
          <a:bodyPr wrap="square" lIns="0" tIns="0" rIns="0" bIns="0" rtlCol="0" anchor="ctr"/>
          <a:lstStyle/>
          <a:p>
            <a:pPr marL="0" indent="0">
              <a:buNone/>
            </a:pPr>
            <a:r>
              <a:rPr lang="en-US" sz="950" b="1" kern="0" spc="200" dirty="0">
                <a:solidFill>
                  <a:srgbClr val="FFFFFF"/>
                </a:solidFill>
              </a:rPr>
              <a:t>HARD-TO-ABATE CHALLENGES</a:t>
            </a:r>
            <a:endParaRPr lang="en-US" sz="950" dirty="0"/>
          </a:p>
        </p:txBody>
      </p:sp>
      <p:sp>
        <p:nvSpPr>
          <p:cNvPr id="25" name="Shape 23"/>
          <p:cNvSpPr/>
          <p:nvPr/>
        </p:nvSpPr>
        <p:spPr>
          <a:xfrm>
            <a:off x="4709160" y="1508760"/>
            <a:ext cx="4206240" cy="749808"/>
          </a:xfrm>
          <a:prstGeom prst="rect">
            <a:avLst/>
          </a:prstGeom>
          <a:solidFill>
            <a:srgbClr val="FFFFFF"/>
          </a:solidFill>
          <a:ln w="12700">
            <a:solidFill>
              <a:srgbClr val="C0392B"/>
            </a:solidFill>
            <a:prstDash val="solid"/>
          </a:ln>
          <a:effectLst>
            <a:outerShdw blurRad="63500" dist="25400" dir="8100000" algn="bl" rotWithShape="0">
              <a:srgbClr val="000000">
                <a:alpha val="12000"/>
              </a:srgbClr>
            </a:outerShdw>
          </a:effectLst>
        </p:spPr>
      </p:sp>
      <p:sp>
        <p:nvSpPr>
          <p:cNvPr id="26" name="Shape 24"/>
          <p:cNvSpPr/>
          <p:nvPr/>
        </p:nvSpPr>
        <p:spPr>
          <a:xfrm>
            <a:off x="4709160" y="1508760"/>
            <a:ext cx="73152" cy="749808"/>
          </a:xfrm>
          <a:prstGeom prst="rect">
            <a:avLst/>
          </a:prstGeom>
          <a:solidFill>
            <a:srgbClr val="C0392B"/>
          </a:solidFill>
          <a:ln w="12700">
            <a:solidFill>
              <a:srgbClr val="C0392B"/>
            </a:solidFill>
            <a:prstDash val="solid"/>
          </a:ln>
        </p:spPr>
      </p:sp>
      <p:sp>
        <p:nvSpPr>
          <p:cNvPr id="27" name="Text 25"/>
          <p:cNvSpPr/>
          <p:nvPr/>
        </p:nvSpPr>
        <p:spPr>
          <a:xfrm>
            <a:off x="4873752" y="1554480"/>
            <a:ext cx="3931920" cy="201168"/>
          </a:xfrm>
          <a:prstGeom prst="rect">
            <a:avLst/>
          </a:prstGeom>
          <a:noFill/>
          <a:ln/>
        </p:spPr>
        <p:txBody>
          <a:bodyPr wrap="square" lIns="0" tIns="0" rIns="0" bIns="0" rtlCol="0" anchor="ctr"/>
          <a:lstStyle/>
          <a:p>
            <a:pPr marL="0" indent="0">
              <a:buNone/>
            </a:pPr>
            <a:r>
              <a:rPr lang="en-US" sz="1000" b="1" dirty="0">
                <a:solidFill>
                  <a:srgbClr val="C0392B"/>
                </a:solidFill>
                <a:latin typeface="Arial" pitchFamily="34" charset="0"/>
                <a:ea typeface="Arial" pitchFamily="34" charset="-122"/>
                <a:cs typeface="Arial" pitchFamily="34" charset="-120"/>
              </a:rPr>
              <a:t>59% Hard-to-Abate Scope 1&amp;2</a:t>
            </a:r>
            <a:endParaRPr lang="en-US" sz="1000" dirty="0"/>
          </a:p>
        </p:txBody>
      </p:sp>
      <p:sp>
        <p:nvSpPr>
          <p:cNvPr id="28" name="Text 26"/>
          <p:cNvSpPr/>
          <p:nvPr/>
        </p:nvSpPr>
        <p:spPr>
          <a:xfrm>
            <a:off x="4873752" y="176479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Process emissions from carbon anodes (aluminium), alumina refining heat and diesel fleets have no proven commercial-scale solution yet. Post-2030 abatement needs ELYSIS™, hydrogen calcination &amp; electric haul trucks. (Annual Report 2025 p.76)</a:t>
            </a:r>
            <a:endParaRPr lang="en-US" sz="800" dirty="0"/>
          </a:p>
        </p:txBody>
      </p:sp>
      <p:sp>
        <p:nvSpPr>
          <p:cNvPr id="29" name="Shape 27"/>
          <p:cNvSpPr/>
          <p:nvPr/>
        </p:nvSpPr>
        <p:spPr>
          <a:xfrm>
            <a:off x="4709160" y="2331720"/>
            <a:ext cx="4206240" cy="749808"/>
          </a:xfrm>
          <a:prstGeom prst="rect">
            <a:avLst/>
          </a:prstGeom>
          <a:solidFill>
            <a:srgbClr val="FFFFFF"/>
          </a:solidFill>
          <a:ln w="12700">
            <a:solidFill>
              <a:srgbClr val="C0392B"/>
            </a:solidFill>
            <a:prstDash val="solid"/>
          </a:ln>
          <a:effectLst>
            <a:outerShdw blurRad="63500" dist="25400" dir="8100000" algn="bl" rotWithShape="0">
              <a:srgbClr val="000000">
                <a:alpha val="12000"/>
              </a:srgbClr>
            </a:outerShdw>
          </a:effectLst>
        </p:spPr>
      </p:sp>
      <p:sp>
        <p:nvSpPr>
          <p:cNvPr id="30" name="Shape 28"/>
          <p:cNvSpPr/>
          <p:nvPr/>
        </p:nvSpPr>
        <p:spPr>
          <a:xfrm>
            <a:off x="4709160" y="2331720"/>
            <a:ext cx="73152" cy="749808"/>
          </a:xfrm>
          <a:prstGeom prst="rect">
            <a:avLst/>
          </a:prstGeom>
          <a:solidFill>
            <a:srgbClr val="C0392B"/>
          </a:solidFill>
          <a:ln w="12700">
            <a:solidFill>
              <a:srgbClr val="C0392B"/>
            </a:solidFill>
            <a:prstDash val="solid"/>
          </a:ln>
        </p:spPr>
      </p:sp>
      <p:sp>
        <p:nvSpPr>
          <p:cNvPr id="31" name="Text 29"/>
          <p:cNvSpPr/>
          <p:nvPr/>
        </p:nvSpPr>
        <p:spPr>
          <a:xfrm>
            <a:off x="4873752" y="2377440"/>
            <a:ext cx="3931920" cy="201168"/>
          </a:xfrm>
          <a:prstGeom prst="rect">
            <a:avLst/>
          </a:prstGeom>
          <a:noFill/>
          <a:ln/>
        </p:spPr>
        <p:txBody>
          <a:bodyPr wrap="square" lIns="0" tIns="0" rIns="0" bIns="0" rtlCol="0" anchor="ctr"/>
          <a:lstStyle/>
          <a:p>
            <a:pPr marL="0" indent="0">
              <a:buNone/>
            </a:pPr>
            <a:r>
              <a:rPr lang="en-US" sz="1000" b="1" dirty="0">
                <a:solidFill>
                  <a:srgbClr val="C0392B"/>
                </a:solidFill>
                <a:latin typeface="Arial" pitchFamily="34" charset="0"/>
                <a:ea typeface="Arial" pitchFamily="34" charset="-122"/>
                <a:cs typeface="Arial" pitchFamily="34" charset="-120"/>
              </a:rPr>
              <a:t>Scope 3 = 19× Scope 1&amp;2</a:t>
            </a:r>
            <a:endParaRPr lang="en-US" sz="1000" dirty="0"/>
          </a:p>
        </p:txBody>
      </p:sp>
      <p:sp>
        <p:nvSpPr>
          <p:cNvPr id="32" name="Text 30"/>
          <p:cNvSpPr/>
          <p:nvPr/>
        </p:nvSpPr>
        <p:spPr>
          <a:xfrm>
            <a:off x="4873752" y="258775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574.6 Mt CO₂e Scope 3 (FY2024) dwarfs its own 29.8 Mt Scope 1&amp;2 total. 80% driven by China customers (carbon neutral pledge only by 2060). Rio Tinto has limited direct influence over customer grids. (2025 CAP p.58)</a:t>
            </a:r>
            <a:endParaRPr lang="en-US" sz="800" dirty="0"/>
          </a:p>
        </p:txBody>
      </p:sp>
      <p:sp>
        <p:nvSpPr>
          <p:cNvPr id="33" name="Shape 31"/>
          <p:cNvSpPr/>
          <p:nvPr/>
        </p:nvSpPr>
        <p:spPr>
          <a:xfrm>
            <a:off x="4709160" y="3154680"/>
            <a:ext cx="4206240" cy="749808"/>
          </a:xfrm>
          <a:prstGeom prst="rect">
            <a:avLst/>
          </a:prstGeom>
          <a:solidFill>
            <a:srgbClr val="FFFFFF"/>
          </a:solidFill>
          <a:ln w="12700">
            <a:solidFill>
              <a:srgbClr val="C0392B"/>
            </a:solidFill>
            <a:prstDash val="solid"/>
          </a:ln>
          <a:effectLst>
            <a:outerShdw blurRad="63500" dist="25400" dir="8100000" algn="bl" rotWithShape="0">
              <a:srgbClr val="000000">
                <a:alpha val="12000"/>
              </a:srgbClr>
            </a:outerShdw>
          </a:effectLst>
        </p:spPr>
      </p:sp>
      <p:sp>
        <p:nvSpPr>
          <p:cNvPr id="34" name="Shape 32"/>
          <p:cNvSpPr/>
          <p:nvPr/>
        </p:nvSpPr>
        <p:spPr>
          <a:xfrm>
            <a:off x="4709160" y="3154680"/>
            <a:ext cx="73152" cy="749808"/>
          </a:xfrm>
          <a:prstGeom prst="rect">
            <a:avLst/>
          </a:prstGeom>
          <a:solidFill>
            <a:srgbClr val="C0392B"/>
          </a:solidFill>
          <a:ln w="12700">
            <a:solidFill>
              <a:srgbClr val="C0392B"/>
            </a:solidFill>
            <a:prstDash val="solid"/>
          </a:ln>
        </p:spPr>
      </p:sp>
      <p:sp>
        <p:nvSpPr>
          <p:cNvPr id="35" name="Text 33"/>
          <p:cNvSpPr/>
          <p:nvPr/>
        </p:nvSpPr>
        <p:spPr>
          <a:xfrm>
            <a:off x="4873752" y="3200400"/>
            <a:ext cx="3931920" cy="201168"/>
          </a:xfrm>
          <a:prstGeom prst="rect">
            <a:avLst/>
          </a:prstGeom>
          <a:noFill/>
          <a:ln/>
        </p:spPr>
        <p:txBody>
          <a:bodyPr wrap="square" lIns="0" tIns="0" rIns="0" bIns="0" rtlCol="0" anchor="ctr"/>
          <a:lstStyle/>
          <a:p>
            <a:pPr marL="0" indent="0">
              <a:buNone/>
            </a:pPr>
            <a:r>
              <a:rPr lang="en-US" sz="1000" b="1" dirty="0">
                <a:solidFill>
                  <a:srgbClr val="C0392B"/>
                </a:solidFill>
                <a:latin typeface="Arial" pitchFamily="34" charset="0"/>
                <a:ea typeface="Arial" pitchFamily="34" charset="-122"/>
                <a:cs typeface="Arial" pitchFamily="34" charset="-120"/>
              </a:rPr>
              <a:t>Pacific Aluminium Risk</a:t>
            </a:r>
            <a:endParaRPr lang="en-US" sz="1000" dirty="0"/>
          </a:p>
        </p:txBody>
      </p:sp>
      <p:sp>
        <p:nvSpPr>
          <p:cNvPr id="36" name="Text 34"/>
          <p:cNvSpPr/>
          <p:nvPr/>
        </p:nvSpPr>
        <p:spPr>
          <a:xfrm>
            <a:off x="4873752" y="341071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Boyne &amp; Tomago smelters = 28% of group emissions. Repowering contracts finely balanced with QLD &amp; NSW Governments. Any delay may prevent meeting the 2030 –50% target this decade. (Annual Report 2025 p.56)</a:t>
            </a:r>
            <a:endParaRPr lang="en-US" sz="800" dirty="0"/>
          </a:p>
        </p:txBody>
      </p:sp>
      <p:sp>
        <p:nvSpPr>
          <p:cNvPr id="37" name="Shape 35"/>
          <p:cNvSpPr/>
          <p:nvPr/>
        </p:nvSpPr>
        <p:spPr>
          <a:xfrm>
            <a:off x="4709160" y="3977640"/>
            <a:ext cx="4206240" cy="749808"/>
          </a:xfrm>
          <a:prstGeom prst="rect">
            <a:avLst/>
          </a:prstGeom>
          <a:solidFill>
            <a:srgbClr val="FFFFFF"/>
          </a:solidFill>
          <a:ln w="12700">
            <a:solidFill>
              <a:srgbClr val="C0392B"/>
            </a:solidFill>
            <a:prstDash val="solid"/>
          </a:ln>
          <a:effectLst>
            <a:outerShdw blurRad="63500" dist="25400" dir="8100000" algn="bl" rotWithShape="0">
              <a:srgbClr val="000000">
                <a:alpha val="12000"/>
              </a:srgbClr>
            </a:outerShdw>
          </a:effectLst>
        </p:spPr>
      </p:sp>
      <p:sp>
        <p:nvSpPr>
          <p:cNvPr id="38" name="Shape 36"/>
          <p:cNvSpPr/>
          <p:nvPr/>
        </p:nvSpPr>
        <p:spPr>
          <a:xfrm>
            <a:off x="4709160" y="3977640"/>
            <a:ext cx="73152" cy="749808"/>
          </a:xfrm>
          <a:prstGeom prst="rect">
            <a:avLst/>
          </a:prstGeom>
          <a:solidFill>
            <a:srgbClr val="C0392B"/>
          </a:solidFill>
          <a:ln w="12700">
            <a:solidFill>
              <a:srgbClr val="C0392B"/>
            </a:solidFill>
            <a:prstDash val="solid"/>
          </a:ln>
        </p:spPr>
      </p:sp>
      <p:sp>
        <p:nvSpPr>
          <p:cNvPr id="39" name="Text 37"/>
          <p:cNvSpPr/>
          <p:nvPr/>
        </p:nvSpPr>
        <p:spPr>
          <a:xfrm>
            <a:off x="4873752" y="4023360"/>
            <a:ext cx="3931920" cy="201168"/>
          </a:xfrm>
          <a:prstGeom prst="rect">
            <a:avLst/>
          </a:prstGeom>
          <a:noFill/>
          <a:ln/>
        </p:spPr>
        <p:txBody>
          <a:bodyPr wrap="square" lIns="0" tIns="0" rIns="0" bIns="0" rtlCol="0" anchor="ctr"/>
          <a:lstStyle/>
          <a:p>
            <a:pPr marL="0" indent="0">
              <a:buNone/>
            </a:pPr>
            <a:r>
              <a:rPr lang="en-US" sz="1000" b="1" dirty="0">
                <a:solidFill>
                  <a:srgbClr val="C0392B"/>
                </a:solidFill>
                <a:latin typeface="Arial" pitchFamily="34" charset="0"/>
                <a:ea typeface="Arial" pitchFamily="34" charset="-122"/>
                <a:cs typeface="Arial" pitchFamily="34" charset="-120"/>
              </a:rPr>
              <a:t>Capex Guidance Cut</a:t>
            </a:r>
            <a:endParaRPr lang="en-US" sz="1000" dirty="0"/>
          </a:p>
        </p:txBody>
      </p:sp>
      <p:sp>
        <p:nvSpPr>
          <p:cNvPr id="40" name="Text 38"/>
          <p:cNvSpPr/>
          <p:nvPr/>
        </p:nvSpPr>
        <p:spPr>
          <a:xfrm>
            <a:off x="4873752" y="4233672"/>
            <a:ext cx="3931920" cy="438912"/>
          </a:xfrm>
          <a:prstGeom prst="rect">
            <a:avLst/>
          </a:prstGeom>
          <a:noFill/>
          <a:ln/>
        </p:spPr>
        <p:txBody>
          <a:bodyPr wrap="square" lIns="0" tIns="0" rIns="0" bIns="0" rtlCol="0" anchor="ctr"/>
          <a:lstStyle/>
          <a:p>
            <a:pPr marL="0" indent="0">
              <a:buNone/>
            </a:pPr>
            <a:r>
              <a:rPr lang="en-US" sz="800" dirty="0">
                <a:solidFill>
                  <a:srgbClr val="2C3E50"/>
                </a:solidFill>
                <a:latin typeface="Arial" pitchFamily="34" charset="0"/>
                <a:ea typeface="Arial" pitchFamily="34" charset="-122"/>
                <a:cs typeface="Arial" pitchFamily="34" charset="-120"/>
              </a:rPr>
              <a:t>Decarbonisation capex guidance slashed from $5–6bn to $1–2bn to 2030 — reflecting slower technology maturity, not lower ambition. Pre-2030 abatement now 90%+ reliant on PPAs and proven solutions. (Annual Report 2025 p.58)</a:t>
            </a:r>
            <a:endParaRPr lang="en-US" sz="800" dirty="0"/>
          </a:p>
        </p:txBody>
      </p:sp>
      <p:sp>
        <p:nvSpPr>
          <p:cNvPr id="41" name="Text 39"/>
          <p:cNvSpPr/>
          <p:nvPr/>
        </p:nvSpPr>
        <p:spPr>
          <a:xfrm>
            <a:off x="228600" y="4956048"/>
            <a:ext cx="8503920" cy="164592"/>
          </a:xfrm>
          <a:prstGeom prst="rect">
            <a:avLst/>
          </a:prstGeom>
          <a:noFill/>
          <a:ln/>
        </p:spPr>
        <p:txBody>
          <a:bodyPr wrap="square" lIns="0" tIns="0" rIns="0" bIns="0" rtlCol="0" anchor="ctr"/>
          <a:lstStyle/>
          <a:p>
            <a:pPr marL="0" indent="0">
              <a:buNone/>
            </a:pPr>
            <a:r>
              <a:rPr lang="en-US" sz="700" i="1" dirty="0">
                <a:solidFill>
                  <a:srgbClr val="7F8C8D"/>
                </a:solidFill>
              </a:rPr>
              <a:t>Source: Rio Tinto Annual Report 2025 | 2025 Climate Action Plan | Emissions Methodology 2024</a:t>
            </a:r>
            <a:endParaRPr lang="en-US" sz="700" dirty="0"/>
          </a:p>
        </p:txBody>
      </p:sp>
      <p:sp>
        <p:nvSpPr>
          <p:cNvPr id="42" name="Text 40"/>
          <p:cNvSpPr/>
          <p:nvPr/>
        </p:nvSpPr>
        <p:spPr>
          <a:xfrm>
            <a:off x="8778240" y="4956048"/>
            <a:ext cx="320040" cy="164592"/>
          </a:xfrm>
          <a:prstGeom prst="rect">
            <a:avLst/>
          </a:prstGeom>
          <a:noFill/>
          <a:ln/>
        </p:spPr>
        <p:txBody>
          <a:bodyPr wrap="square" lIns="0" tIns="0" rIns="0" bIns="0" rtlCol="0" anchor="ctr"/>
          <a:lstStyle/>
          <a:p>
            <a:pPr marL="0" indent="0" algn="r">
              <a:buNone/>
            </a:pPr>
            <a:r>
              <a:rPr lang="en-US" sz="700" dirty="0">
                <a:solidFill>
                  <a:srgbClr val="7F8C8D"/>
                </a:solidFill>
              </a:rPr>
              <a:t>4 / 5</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C3E50"/>
        </a:solidFill>
        <a:effectLst/>
      </p:bgPr>
    </p:bg>
    <p:spTree>
      <p:nvGrpSpPr>
        <p:cNvPr id="1" name=""/>
        <p:cNvGrpSpPr/>
        <p:nvPr/>
      </p:nvGrpSpPr>
      <p:grpSpPr>
        <a:xfrm>
          <a:off x="0" y="0"/>
          <a:ext cx="0" cy="0"/>
          <a:chOff x="0" y="0"/>
          <a:chExt cx="0" cy="0"/>
        </a:xfrm>
      </p:grpSpPr>
      <p:sp>
        <p:nvSpPr>
          <p:cNvPr id="2" name="Shape 0"/>
          <p:cNvSpPr/>
          <p:nvPr/>
        </p:nvSpPr>
        <p:spPr>
          <a:xfrm>
            <a:off x="0" y="0"/>
            <a:ext cx="9144000" cy="1234440"/>
          </a:xfrm>
          <a:prstGeom prst="rect">
            <a:avLst/>
          </a:prstGeom>
          <a:solidFill>
            <a:srgbClr val="8B0000"/>
          </a:solidFill>
          <a:ln w="12700">
            <a:solidFill>
              <a:srgbClr val="8B0000"/>
            </a:solidFill>
            <a:prstDash val="solid"/>
          </a:ln>
        </p:spPr>
      </p:sp>
      <p:sp>
        <p:nvSpPr>
          <p:cNvPr id="3" name="Text 1"/>
          <p:cNvSpPr/>
          <p:nvPr/>
        </p:nvSpPr>
        <p:spPr>
          <a:xfrm>
            <a:off x="365760" y="91440"/>
            <a:ext cx="6858000" cy="420624"/>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SCORECARD SUMMARY</a:t>
            </a:r>
            <a:endParaRPr lang="en-US" sz="2200" dirty="0"/>
          </a:p>
        </p:txBody>
      </p:sp>
      <p:sp>
        <p:nvSpPr>
          <p:cNvPr id="4" name="Text 2"/>
          <p:cNvSpPr/>
          <p:nvPr/>
        </p:nvSpPr>
        <p:spPr>
          <a:xfrm>
            <a:off x="365760" y="566928"/>
            <a:ext cx="8412480" cy="237744"/>
          </a:xfrm>
          <a:prstGeom prst="rect">
            <a:avLst/>
          </a:prstGeom>
          <a:noFill/>
          <a:ln/>
        </p:spPr>
        <p:txBody>
          <a:bodyPr wrap="square" lIns="0" tIns="0" rIns="0" bIns="0" rtlCol="0" anchor="ctr"/>
          <a:lstStyle/>
          <a:p>
            <a:pPr marL="0" indent="0">
              <a:buNone/>
            </a:pPr>
            <a:r>
              <a:rPr lang="en-US" sz="1100" dirty="0">
                <a:solidFill>
                  <a:srgbClr val="FADBD8"/>
                </a:solidFill>
                <a:latin typeface="Arial" pitchFamily="34" charset="0"/>
                <a:ea typeface="Arial" pitchFamily="34" charset="-122"/>
                <a:cs typeface="Arial" pitchFamily="34" charset="-120"/>
              </a:rPr>
              <a:t>Rio Tinto PLC — ESG Assessment 2024 | Learner Group 5</a:t>
            </a:r>
            <a:endParaRPr lang="en-US" sz="1100" dirty="0"/>
          </a:p>
        </p:txBody>
      </p:sp>
      <p:sp>
        <p:nvSpPr>
          <p:cNvPr id="5" name="Text 3"/>
          <p:cNvSpPr/>
          <p:nvPr/>
        </p:nvSpPr>
        <p:spPr>
          <a:xfrm>
            <a:off x="6858000" y="91440"/>
            <a:ext cx="2103120" cy="1051560"/>
          </a:xfrm>
          <a:prstGeom prst="rect">
            <a:avLst/>
          </a:prstGeom>
          <a:noFill/>
          <a:ln/>
        </p:spPr>
        <p:txBody>
          <a:bodyPr wrap="square" lIns="0" tIns="0" rIns="0" bIns="0" rtlCol="0" anchor="ctr"/>
          <a:lstStyle/>
          <a:p>
            <a:pPr marL="0" indent="0" algn="ctr">
              <a:buNone/>
            </a:pPr>
            <a:r>
              <a:rPr lang="en-US" sz="2600" b="1" dirty="0">
                <a:solidFill>
                  <a:srgbClr val="D4AC0D"/>
                </a:solidFill>
                <a:latin typeface="Arial Black" pitchFamily="34" charset="0"/>
                <a:ea typeface="Arial Black" pitchFamily="34" charset="-122"/>
                <a:cs typeface="Arial Black" pitchFamily="34" charset="-120"/>
              </a:rPr>
              <a:t>32 / 35 | 91.4%</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4199517285"/>
              </p:ext>
            </p:extLst>
          </p:nvPr>
        </p:nvGraphicFramePr>
        <p:xfrm>
          <a:off x="228600" y="1353312"/>
          <a:ext cx="8686800" cy="3337560"/>
        </p:xfrm>
        <a:graphic>
          <a:graphicData uri="http://schemas.openxmlformats.org/drawingml/2006/table">
            <a:tbl>
              <a:tblPr/>
              <a:tblGrid>
                <a:gridCol w="182880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5029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120640">
                  <a:extLst>
                    <a:ext uri="{9D8B030D-6E8A-4147-A177-3AD203B41FA5}">
                      <a16:colId xmlns:a16="http://schemas.microsoft.com/office/drawing/2014/main" val="20004"/>
                    </a:ext>
                  </a:extLst>
                </a:gridCol>
              </a:tblGrid>
              <a:tr h="556260">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Category</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C3E50"/>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Score</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C3E50"/>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Max</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C3E50"/>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C3E50"/>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Key Highlights</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C3E50"/>
                    </a:solidFill>
                  </a:tcPr>
                </a:tc>
                <a:extLst>
                  <a:ext uri="{0D108BD9-81ED-4DB2-BD59-A6C34878D82A}">
                    <a16:rowId xmlns:a16="http://schemas.microsoft.com/office/drawing/2014/main" val="10000"/>
                  </a:ext>
                </a:extLst>
              </a:tr>
              <a:tr h="556260">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Reporting &amp; Controversy</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B4F72"/>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5</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7A65"/>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5</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100%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All 5 frameworks present: GRI, TCFD, CDP, ISSB S2, UNGC. No active controversy penalty.</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E3A4A"/>
                    </a:solidFill>
                  </a:tcPr>
                </a:tc>
                <a:extLst>
                  <a:ext uri="{0D108BD9-81ED-4DB2-BD59-A6C34878D82A}">
                    <a16:rowId xmlns:a16="http://schemas.microsoft.com/office/drawing/2014/main" val="10001"/>
                  </a:ext>
                </a:extLst>
              </a:tr>
              <a:tr h="556260">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Environmental</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B4F72"/>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9</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7A65"/>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10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90%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Strong: Policy, GHG (Scope 1-3), 78% renewable energy, water, waste, biodiversity, climate risk, resource efficiency, sustainable sourcing. Gap: Env. Compliance (0).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E3A4A"/>
                    </a:solidFill>
                  </a:tcPr>
                </a:tc>
                <a:extLst>
                  <a:ext uri="{0D108BD9-81ED-4DB2-BD59-A6C34878D82A}">
                    <a16:rowId xmlns:a16="http://schemas.microsoft.com/office/drawing/2014/main" val="10002"/>
                  </a:ext>
                </a:extLst>
              </a:tr>
              <a:tr h="556260">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Social</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B4F72"/>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8</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A6E3A"/>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10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80%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Strong: 8/10 metrics. Gaps: Data Privacy (no disclosure found) and Social Compliance (0). Juukan Gorge legacy managed via reformed Indigenous engagement protocols.</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E3A4A"/>
                    </a:solidFill>
                  </a:tcPr>
                </a:tc>
                <a:extLst>
                  <a:ext uri="{0D108BD9-81ED-4DB2-BD59-A6C34878D82A}">
                    <a16:rowId xmlns:a16="http://schemas.microsoft.com/office/drawing/2014/main" val="10003"/>
                  </a:ext>
                </a:extLst>
              </a:tr>
              <a:tr h="556260">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Governance</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B4F72"/>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9</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7A65"/>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10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90%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Strong: Board, ethics, transparency, risk (standalone principal risk 2025), exec comp (20% LTIP ESG), shareholder rights, audit, regulatory, ESG governance. Gap: Whistleblower (0).</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E3A4A"/>
                    </a:solidFill>
                  </a:tcPr>
                </a:tc>
                <a:extLst>
                  <a:ext uri="{0D108BD9-81ED-4DB2-BD59-A6C34878D82A}">
                    <a16:rowId xmlns:a16="http://schemas.microsoft.com/office/drawing/2014/main" val="10004"/>
                  </a:ext>
                </a:extLst>
              </a:tr>
              <a:tr h="556260">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TOTAL</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8B0000"/>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32</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D4AC0D"/>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35</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8B0000"/>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91.4%</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D4AC0D"/>
                    </a:solidFill>
                  </a:tcPr>
                </a:tc>
                <a:tc>
                  <a:txBody>
                    <a:bodyPr/>
                    <a:lstStyle/>
                    <a:p>
                      <a:pPr marL="0" indent="0" algn="l">
                        <a:buNone/>
                      </a:pPr>
                      <a:r>
                        <a:rPr lang="en-US" sz="900" b="1" dirty="0">
                          <a:solidFill>
                            <a:schemeClr val="bg1"/>
                          </a:solidFill>
                          <a:latin typeface="Arial" pitchFamily="34" charset="0"/>
                          <a:ea typeface="Arial" pitchFamily="34" charset="-122"/>
                          <a:cs typeface="Arial" pitchFamily="34" charset="-120"/>
                        </a:rPr>
                        <a:t>Exceptional ESG performer in the mining sector. Main risk: hard-to-abate Scope 1&amp;2 and Scope 3 emissions exposure from steel &amp; aluminium customers. 2030 target credibility hinges on Pacific Aluminium smelter repowering.</a:t>
                      </a:r>
                      <a:endParaRPr lang="en-US" sz="900" b="1" dirty="0">
                        <a:solidFill>
                          <a:schemeClr val="bg1"/>
                        </a:solidFill>
                        <a:latin typeface="Arial" charset="0"/>
                        <a:ea typeface="Arial" charset="0"/>
                        <a:cs typeface="Arial" charset="0"/>
                      </a:endParaRPr>
                    </a:p>
                  </a:txBody>
                  <a:tcPr anchor="ctr">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2C1A00"/>
                    </a:solidFill>
                  </a:tcPr>
                </a:tc>
                <a:extLst>
                  <a:ext uri="{0D108BD9-81ED-4DB2-BD59-A6C34878D82A}">
                    <a16:rowId xmlns:a16="http://schemas.microsoft.com/office/drawing/2014/main" val="10005"/>
                  </a:ext>
                </a:extLst>
              </a:tr>
            </a:tbl>
          </a:graphicData>
        </a:graphic>
      </p:graphicFrame>
      <p:sp>
        <p:nvSpPr>
          <p:cNvPr id="7" name="Text 4"/>
          <p:cNvSpPr/>
          <p:nvPr/>
        </p:nvSpPr>
        <p:spPr>
          <a:xfrm>
            <a:off x="228600" y="4773168"/>
            <a:ext cx="8686800" cy="292608"/>
          </a:xfrm>
          <a:prstGeom prst="rect">
            <a:avLst/>
          </a:prstGeom>
          <a:noFill/>
          <a:ln/>
        </p:spPr>
        <p:txBody>
          <a:bodyPr wrap="square" lIns="0" tIns="0" rIns="0" bIns="0" rtlCol="0" anchor="ctr"/>
          <a:lstStyle/>
          <a:p>
            <a:pPr marL="0" indent="0">
              <a:buNone/>
            </a:pPr>
            <a:r>
              <a:rPr lang="en-US" sz="750" i="1" dirty="0">
                <a:solidFill>
                  <a:srgbClr val="AAAAAA"/>
                </a:solidFill>
                <a:latin typeface="Arial" pitchFamily="34" charset="0"/>
                <a:ea typeface="Arial" pitchFamily="34" charset="-122"/>
                <a:cs typeface="Arial" pitchFamily="34" charset="-120"/>
              </a:rPr>
              <a:t>Note: Scores reflect information available in Rio Tinto Annual Report 2024, 2025 Climate Action Plan and Emissions Methodology 2024. '0' scores indicate no information found in reviewed documents, not necessarily absence of the practice.</a:t>
            </a:r>
            <a:endParaRPr lang="en-US" sz="750" dirty="0"/>
          </a:p>
        </p:txBody>
      </p:sp>
      <p:sp>
        <p:nvSpPr>
          <p:cNvPr id="8" name="Text 5"/>
          <p:cNvSpPr/>
          <p:nvPr/>
        </p:nvSpPr>
        <p:spPr>
          <a:xfrm>
            <a:off x="8778240" y="4956048"/>
            <a:ext cx="320040" cy="164592"/>
          </a:xfrm>
          <a:prstGeom prst="rect">
            <a:avLst/>
          </a:prstGeom>
          <a:noFill/>
          <a:ln/>
        </p:spPr>
        <p:txBody>
          <a:bodyPr wrap="square" lIns="0" tIns="0" rIns="0" bIns="0" rtlCol="0" anchor="ctr"/>
          <a:lstStyle/>
          <a:p>
            <a:pPr marL="0" indent="0" algn="r">
              <a:buNone/>
            </a:pPr>
            <a:r>
              <a:rPr lang="en-US" sz="700" dirty="0">
                <a:solidFill>
                  <a:srgbClr val="7F8C8D"/>
                </a:solidFill>
              </a:rPr>
              <a:t>5 / 5</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1251</Words>
  <Application>Microsoft Office PowerPoint</Application>
  <PresentationFormat>On-screen Show (16:9)</PresentationFormat>
  <Paragraphs>164</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Rio Tinto ESG Overview 2024</dc:title>
  <dc:subject>PptxGenJS Presentation</dc:subject>
  <dc:creator>Learner Group 5</dc:creator>
  <cp:lastModifiedBy>KANISHKA SHARMA</cp:lastModifiedBy>
  <cp:revision>2</cp:revision>
  <dcterms:created xsi:type="dcterms:W3CDTF">2026-04-02T05:31:13Z</dcterms:created>
  <dcterms:modified xsi:type="dcterms:W3CDTF">2026-04-02T05:53:51Z</dcterms:modified>
</cp:coreProperties>
</file>